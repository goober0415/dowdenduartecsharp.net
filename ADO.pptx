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3.xml" ContentType="application/vnd.openxmlformats-officedocument.them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4.xml" ContentType="application/vnd.openxmlformats-officedocument.theme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6" r:id="rId2"/>
    <p:sldMasterId id="2147483693" r:id="rId3"/>
    <p:sldMasterId id="2147483711" r:id="rId4"/>
    <p:sldMasterId id="2147483722" r:id="rId5"/>
  </p:sldMasterIdLst>
  <p:notesMasterIdLst>
    <p:notesMasterId r:id="rId45"/>
  </p:notesMasterIdLst>
  <p:sldIdLst>
    <p:sldId id="256" r:id="rId6"/>
    <p:sldId id="257" r:id="rId7"/>
    <p:sldId id="263" r:id="rId8"/>
    <p:sldId id="274" r:id="rId9"/>
    <p:sldId id="285" r:id="rId10"/>
    <p:sldId id="286" r:id="rId11"/>
    <p:sldId id="287" r:id="rId12"/>
    <p:sldId id="288" r:id="rId13"/>
    <p:sldId id="264" r:id="rId14"/>
    <p:sldId id="318" r:id="rId15"/>
    <p:sldId id="320" r:id="rId16"/>
    <p:sldId id="319" r:id="rId17"/>
    <p:sldId id="275" r:id="rId18"/>
    <p:sldId id="289" r:id="rId19"/>
    <p:sldId id="290" r:id="rId20"/>
    <p:sldId id="291" r:id="rId21"/>
    <p:sldId id="292" r:id="rId22"/>
    <p:sldId id="293" r:id="rId23"/>
    <p:sldId id="294" r:id="rId24"/>
    <p:sldId id="295" r:id="rId25"/>
    <p:sldId id="296" r:id="rId26"/>
    <p:sldId id="297" r:id="rId27"/>
    <p:sldId id="298" r:id="rId28"/>
    <p:sldId id="299" r:id="rId29"/>
    <p:sldId id="265" r:id="rId30"/>
    <p:sldId id="276" r:id="rId31"/>
    <p:sldId id="301" r:id="rId32"/>
    <p:sldId id="302" r:id="rId33"/>
    <p:sldId id="303" r:id="rId34"/>
    <p:sldId id="304" r:id="rId35"/>
    <p:sldId id="305" r:id="rId36"/>
    <p:sldId id="306" r:id="rId37"/>
    <p:sldId id="307" r:id="rId38"/>
    <p:sldId id="266" r:id="rId39"/>
    <p:sldId id="277" r:id="rId40"/>
    <p:sldId id="316" r:id="rId41"/>
    <p:sldId id="317" r:id="rId42"/>
    <p:sldId id="315" r:id="rId43"/>
    <p:sldId id="262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47C28778-2760-4EAD-AB0A-B2A64705858C}">
          <p14:sldIdLst>
            <p14:sldId id="256"/>
            <p14:sldId id="257"/>
          </p14:sldIdLst>
        </p14:section>
        <p14:section name="Overview" id="{9E393EEE-0970-4643-9EF2-315D845AF9E5}">
          <p14:sldIdLst>
            <p14:sldId id="263"/>
            <p14:sldId id="274"/>
            <p14:sldId id="285"/>
            <p14:sldId id="286"/>
            <p14:sldId id="287"/>
            <p14:sldId id="288"/>
          </p14:sldIdLst>
        </p14:section>
        <p14:section name="Database Connections" id="{F2D834FE-5F4D-44B9-A1BB-2D8D1DE06D3F}">
          <p14:sldIdLst>
            <p14:sldId id="264"/>
            <p14:sldId id="318"/>
            <p14:sldId id="320"/>
            <p14:sldId id="319"/>
            <p14:sldId id="275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</p14:sldIdLst>
        </p14:section>
        <p14:section name="Database Commands" id="{D103C5CB-42AE-42DD-8947-BDF95EA351FE}">
          <p14:sldIdLst>
            <p14:sldId id="265"/>
            <p14:sldId id="276"/>
            <p14:sldId id="301"/>
            <p14:sldId id="302"/>
            <p14:sldId id="303"/>
            <p14:sldId id="304"/>
            <p14:sldId id="305"/>
            <p14:sldId id="306"/>
            <p14:sldId id="307"/>
          </p14:sldIdLst>
        </p14:section>
        <p14:section name="Data Reader" id="{64B55874-BBD8-4B06-BFF4-959B66B33EB1}">
          <p14:sldIdLst>
            <p14:sldId id="266"/>
            <p14:sldId id="277"/>
            <p14:sldId id="316"/>
            <p14:sldId id="317"/>
          </p14:sldIdLst>
        </p14:section>
        <p14:section name="Demo" id="{05FF0FB6-8727-444E-A2F1-580E0F5E1552}">
          <p14:sldIdLst>
            <p14:sldId id="315"/>
          </p14:sldIdLst>
        </p14:section>
        <p14:section name="Summary" id="{484AEAC6-781C-43D9-8449-DDEAC50CEC63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FFFFF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8440" autoAdjust="0"/>
    <p:restoredTop sz="86909" autoAdjust="0"/>
  </p:normalViewPr>
  <p:slideViewPr>
    <p:cSldViewPr snapToGrid="0">
      <p:cViewPr varScale="1">
        <p:scale>
          <a:sx n="71" d="100"/>
          <a:sy n="71" d="100"/>
        </p:scale>
        <p:origin x="168" y="6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1186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viewProps" Target="viewProps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theme" Target="theme/theme1.xml"/><Relationship Id="rId8" Type="http://schemas.openxmlformats.org/officeDocument/2006/relationships/slide" Target="slides/slide3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presProps" Target="presProp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28AEDA-69F3-4BD8-A62F-AB69D1B5AE71}" type="datetimeFigureOut">
              <a:rPr lang="en-US" smtClean="0"/>
              <a:t>12-Nov-24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92D35B-DA1B-4438-A15B-857732987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105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the examples in this chapter access data in one way or another. The namespaces in the following table expose the classes and interfaces used in .NET data access.</a:t>
            </a:r>
          </a:p>
          <a:p>
            <a:endParaRPr lang="en-US" dirty="0"/>
          </a:p>
          <a:p>
            <a:r>
              <a:rPr lang="en-US" dirty="0"/>
              <a:t>Nagel, Christian; Glynn, Jay; Skinner, Morgan (2014-02-19). Professional C# 5.0 and .NET 4.5.1 (p. 920). Wiley. Kindle Edition.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92D35B-DA1B-4438-A15B-85773298702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8581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ADO.NET contains a number of classes that are used regardless of whether you are using SQL Server classes or OLE DB classes.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92D35B-DA1B-4438-A15B-85773298702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6567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addition to the shared classes introduced in the previous section, ADO.NET contains a number of database-specific classes. These classes implement a set of standard interfaces defined within the </a:t>
            </a:r>
            <a:r>
              <a:rPr lang="en-US" dirty="0" err="1"/>
              <a:t>System.Data</a:t>
            </a:r>
            <a:r>
              <a:rPr lang="en-US" dirty="0"/>
              <a:t> namespace, enabling the classes to be used in a generic manner if necessary. For example, both the </a:t>
            </a:r>
            <a:r>
              <a:rPr lang="en-US" dirty="0" err="1"/>
              <a:t>SqlConnection</a:t>
            </a:r>
            <a:r>
              <a:rPr lang="en-US" dirty="0"/>
              <a:t> and </a:t>
            </a:r>
            <a:r>
              <a:rPr lang="en-US" dirty="0" err="1"/>
              <a:t>OleDbConnection</a:t>
            </a:r>
            <a:r>
              <a:rPr lang="en-US" dirty="0"/>
              <a:t> classes derive from the </a:t>
            </a:r>
            <a:r>
              <a:rPr lang="en-US" dirty="0" err="1"/>
              <a:t>DbConnection</a:t>
            </a:r>
            <a:r>
              <a:rPr lang="en-US" dirty="0"/>
              <a:t> class, which implements the </a:t>
            </a:r>
            <a:r>
              <a:rPr lang="en-US" dirty="0" err="1"/>
              <a:t>IDbConnection</a:t>
            </a:r>
            <a:r>
              <a:rPr lang="en-US" dirty="0"/>
              <a:t> interface. The following table lists the database-specific classes:</a:t>
            </a:r>
          </a:p>
          <a:p>
            <a:endParaRPr lang="en-US" dirty="0"/>
          </a:p>
          <a:p>
            <a:r>
              <a:rPr lang="en-US" dirty="0"/>
              <a:t>Nagel, Christian; Glynn, Jay; Skinner, Morgan (2014-02-19). Professional C# 5.0 and .NET 4.5.1 (p. 921). Wiley. Kindle Edition.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92D35B-DA1B-4438-A15B-85773298702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5011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92D35B-DA1B-4438-A15B-85773298702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1595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92D35B-DA1B-4438-A15B-85773298702F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408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://www.socrative.com/" TargetMode="External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://www.socrative.com/" TargetMode="External"/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://www.socrative.com/" TargetMode="External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447801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0386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12-Nov-24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pic>
        <p:nvPicPr>
          <p:cNvPr id="6" name="Picture 5" descr="CNM logo_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8800" y="1"/>
            <a:ext cx="3403600" cy="126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611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12-Nov-24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550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12-Nov-24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255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3962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3962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12-Nov-24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043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12-Nov-24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204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12-Nov-24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860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12-Nov-24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625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12-Nov-24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  <p:sp>
        <p:nvSpPr>
          <p:cNvPr id="5" name="Slide Number Placeholder 1"/>
          <p:cNvSpPr txBox="1">
            <a:spLocks/>
          </p:cNvSpPr>
          <p:nvPr/>
        </p:nvSpPr>
        <p:spPr>
          <a:xfrm>
            <a:off x="609600" y="5943601"/>
            <a:ext cx="10972800" cy="777875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742950" indent="-28575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11430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6002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20574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eaLnBrk="1" hangingPunct="1"/>
            <a:fld id="{BEC4B462-DC2D-47D4-8944-F81C2113999E}" type="slidenum">
              <a:rPr lang="en-US" sz="1800" smtClean="0"/>
              <a:pPr eaLnBrk="1" hangingPunct="1"/>
              <a:t>‹#›</a:t>
            </a:fld>
            <a:endParaRPr lang="en-US" sz="1800"/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304800" y="152401"/>
            <a:ext cx="5283200" cy="708025"/>
          </a:xfrm>
          <a:prstGeom prst="rect">
            <a:avLst/>
          </a:prstGeom>
          <a:solidFill>
            <a:schemeClr val="bg1">
              <a:alpha val="74901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ES" sz="4000" dirty="0"/>
              <a:t>Instructor </a:t>
            </a:r>
            <a:r>
              <a:rPr lang="es-ES" sz="4000" dirty="0" err="1"/>
              <a:t>Name</a:t>
            </a:r>
            <a:r>
              <a:rPr lang="es-ES" sz="4000" dirty="0"/>
              <a:t>:</a:t>
            </a:r>
          </a:p>
        </p:txBody>
      </p:sp>
      <p:sp>
        <p:nvSpPr>
          <p:cNvPr id="8" name="TextBox 3"/>
          <p:cNvSpPr txBox="1">
            <a:spLocks noChangeArrowheads="1"/>
          </p:cNvSpPr>
          <p:nvPr/>
        </p:nvSpPr>
        <p:spPr bwMode="auto">
          <a:xfrm>
            <a:off x="285752" y="873126"/>
            <a:ext cx="4692649" cy="1323975"/>
          </a:xfrm>
          <a:prstGeom prst="rect">
            <a:avLst/>
          </a:prstGeom>
          <a:solidFill>
            <a:schemeClr val="bg1">
              <a:alpha val="67058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4000" dirty="0"/>
              <a:t>Instructor ID #:</a:t>
            </a:r>
          </a:p>
          <a:p>
            <a:pPr eaLnBrk="1" hangingPunct="1"/>
            <a:r>
              <a:rPr lang="en-US" sz="4000" dirty="0"/>
              <a:t>Class ID #:  </a:t>
            </a:r>
            <a:endParaRPr lang="es-ES" sz="4000" dirty="0"/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3048000" y="4038601"/>
            <a:ext cx="4267515" cy="1569660"/>
          </a:xfrm>
          <a:prstGeom prst="rect">
            <a:avLst/>
          </a:prstGeom>
          <a:solidFill>
            <a:schemeClr val="bg1">
              <a:lumMod val="95000"/>
              <a:alpha val="51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9600" b="1" dirty="0">
                <a:latin typeface="Edwardian Script ITC" pitchFamily="66" charset="0"/>
              </a:rPr>
              <a:t>Thank you!</a:t>
            </a:r>
            <a:endParaRPr lang="es-ES" sz="9600" b="1" dirty="0">
              <a:latin typeface="Edwardian Script ITC" pitchFamily="66" charset="0"/>
            </a:endParaRP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5588000" y="304800"/>
            <a:ext cx="5791200" cy="533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5080000" y="990600"/>
            <a:ext cx="5791200" cy="533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3860800" y="1600200"/>
            <a:ext cx="5791200" cy="533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2125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12-Nov-24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1016000" y="4419601"/>
            <a:ext cx="10363200" cy="136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 cap="all">
                <a:solidFill>
                  <a:srgbClr val="00499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9pPr>
          </a:lstStyle>
          <a:p>
            <a:r>
              <a:rPr lang="en-US" sz="4000" kern="0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15885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12-Nov-24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941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12-Nov-24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0449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12-Nov-24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5817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7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12-Nov-24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0795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12-Nov-24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9003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27200" y="1600201"/>
            <a:ext cx="98552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13"/>
          <p:cNvSpPr>
            <a:spLocks noGrp="1"/>
          </p:cNvSpPr>
          <p:nvPr>
            <p:ph type="ftr" sz="quarter" idx="10"/>
            <p:custDataLst>
              <p:tags r:id="rId1"/>
            </p:custDataLst>
          </p:nvPr>
        </p:nvSpPr>
        <p:spPr>
          <a:xfrm>
            <a:off x="2336800" y="6324601"/>
            <a:ext cx="640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12"/>
          <p:cNvSpPr>
            <a:spLocks noGrp="1"/>
          </p:cNvSpPr>
          <p:nvPr>
            <p:ph type="sldNum" sz="quarter" idx="11"/>
            <p:custDataLst>
              <p:tags r:id="rId2"/>
            </p:custDataLst>
          </p:nvPr>
        </p:nvSpPr>
        <p:spPr>
          <a:xfrm>
            <a:off x="8636000" y="6400801"/>
            <a:ext cx="2844800" cy="365125"/>
          </a:xfrm>
          <a:prstGeom prst="rect">
            <a:avLst/>
          </a:prstGeom>
        </p:spPr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898989"/>
                </a:solidFill>
              </a:defRPr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5728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447801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0386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12-Nov-24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pic>
        <p:nvPicPr>
          <p:cNvPr id="6" name="Picture 5" descr="CNM logo_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8800" y="1"/>
            <a:ext cx="3403600" cy="126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864228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lang="en-US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12-Nov-24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4052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Che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ü"/>
              <a:defRPr/>
            </a:lvl1pPr>
            <a:lvl2pPr marL="742950" indent="-285750">
              <a:buFont typeface="Wingdings" panose="05000000000000000000" pitchFamily="2" charset="2"/>
              <a:buChar char="ü"/>
              <a:defRPr/>
            </a:lvl2pPr>
            <a:lvl3pPr marL="1143000" indent="-228600">
              <a:buFont typeface="Wingdings" panose="05000000000000000000" pitchFamily="2" charset="2"/>
              <a:buChar char="ü"/>
              <a:defRPr/>
            </a:lvl3pPr>
            <a:lvl4pPr marL="1600200" indent="-228600">
              <a:buFont typeface="Wingdings" panose="05000000000000000000" pitchFamily="2" charset="2"/>
              <a:buChar char="ü"/>
              <a:defRPr/>
            </a:lvl4pPr>
            <a:lvl5pPr marL="2057400" indent="-228600">
              <a:buFont typeface="Wingdings" panose="05000000000000000000" pitchFamily="2" charset="2"/>
              <a:buChar char="ü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12-Nov-24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1516C32-2EEE-4D37-A3D7-4BF53FB583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09600" y="471948"/>
            <a:ext cx="10972800" cy="1128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lvl="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+mj-lt"/>
                <a:ea typeface="+mj-ea"/>
                <a:cs typeface="+mj-cs"/>
              </a:defRPr>
            </a:lvl1pPr>
            <a:lvl2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2pPr>
            <a:lvl3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3pPr>
            <a:lvl4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4pPr>
            <a:lvl5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9pPr>
          </a:lstStyle>
          <a:p>
            <a:pPr lvl="0"/>
            <a:r>
              <a:rPr lang="en-US" dirty="0"/>
              <a:t>Quality Check Items</a:t>
            </a:r>
          </a:p>
        </p:txBody>
      </p:sp>
    </p:spTree>
    <p:extLst>
      <p:ext uri="{BB962C8B-B14F-4D97-AF65-F5344CB8AC3E}">
        <p14:creationId xmlns:p14="http://schemas.microsoft.com/office/powerpoint/2010/main" val="20709015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12-Nov-24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1611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3962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3962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12-Nov-24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1971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12-Nov-24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7310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12-Nov-24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6507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12-Nov-24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44765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12-Nov-24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  <p:sp>
        <p:nvSpPr>
          <p:cNvPr id="5" name="Slide Number Placeholder 1"/>
          <p:cNvSpPr txBox="1">
            <a:spLocks/>
          </p:cNvSpPr>
          <p:nvPr/>
        </p:nvSpPr>
        <p:spPr>
          <a:xfrm>
            <a:off x="609600" y="5943601"/>
            <a:ext cx="10972800" cy="7778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742950" indent="-28575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11430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6002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20574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eaLnBrk="1" hangingPunct="1"/>
            <a:fld id="{BEC4B462-DC2D-47D4-8944-F81C2113999E}" type="slidenum">
              <a:rPr lang="en-US" sz="1800" smtClean="0"/>
              <a:pPr eaLnBrk="1" hangingPunct="1"/>
              <a:t>‹#›</a:t>
            </a:fld>
            <a:endParaRPr lang="en-US" sz="1800"/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304800" y="152401"/>
            <a:ext cx="5283200" cy="708025"/>
          </a:xfrm>
          <a:prstGeom prst="rect">
            <a:avLst/>
          </a:prstGeom>
          <a:solidFill>
            <a:schemeClr val="bg1">
              <a:alpha val="74901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ES" sz="4000" dirty="0"/>
              <a:t>Instructor </a:t>
            </a:r>
            <a:r>
              <a:rPr lang="es-ES" sz="4000" dirty="0" err="1"/>
              <a:t>Name</a:t>
            </a:r>
            <a:r>
              <a:rPr lang="es-ES" sz="4000" dirty="0"/>
              <a:t>:</a:t>
            </a:r>
          </a:p>
        </p:txBody>
      </p:sp>
      <p:sp>
        <p:nvSpPr>
          <p:cNvPr id="8" name="TextBox 3"/>
          <p:cNvSpPr txBox="1">
            <a:spLocks noChangeArrowheads="1"/>
          </p:cNvSpPr>
          <p:nvPr/>
        </p:nvSpPr>
        <p:spPr bwMode="auto">
          <a:xfrm>
            <a:off x="285752" y="873126"/>
            <a:ext cx="4692649" cy="1323975"/>
          </a:xfrm>
          <a:prstGeom prst="rect">
            <a:avLst/>
          </a:prstGeom>
          <a:solidFill>
            <a:schemeClr val="bg1">
              <a:alpha val="67058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4000" dirty="0"/>
              <a:t>Instructor ID #:</a:t>
            </a:r>
          </a:p>
          <a:p>
            <a:pPr eaLnBrk="1" hangingPunct="1"/>
            <a:r>
              <a:rPr lang="en-US" sz="4000" dirty="0"/>
              <a:t>Class ID #:  </a:t>
            </a:r>
            <a:endParaRPr lang="es-ES" sz="4000" dirty="0"/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3048000" y="4038601"/>
            <a:ext cx="4267515" cy="1569660"/>
          </a:xfrm>
          <a:prstGeom prst="rect">
            <a:avLst/>
          </a:prstGeom>
          <a:solidFill>
            <a:schemeClr val="bg1">
              <a:lumMod val="95000"/>
              <a:alpha val="51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9600" b="1" dirty="0">
                <a:latin typeface="Edwardian Script ITC" pitchFamily="66" charset="0"/>
              </a:rPr>
              <a:t>Thank you!</a:t>
            </a:r>
            <a:endParaRPr lang="es-ES" sz="9600" b="1" dirty="0">
              <a:latin typeface="Edwardian Script ITC" pitchFamily="66" charset="0"/>
            </a:endParaRP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5588000" y="304800"/>
            <a:ext cx="5791200" cy="533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5080000" y="990600"/>
            <a:ext cx="5791200" cy="533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3860800" y="1600200"/>
            <a:ext cx="5791200" cy="533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5762312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12-Nov-24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1016000" y="4419601"/>
            <a:ext cx="10363200" cy="136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 cap="all">
                <a:solidFill>
                  <a:srgbClr val="00499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9pPr>
          </a:lstStyle>
          <a:p>
            <a:r>
              <a:rPr lang="en-US" sz="4000" kern="0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41649102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12-Nov-24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93166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12-Nov-24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47841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12-Nov-24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1252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7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12-Nov-24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22142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12-Nov-24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09600" y="5943601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23632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27200" y="1600201"/>
            <a:ext cx="98552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13"/>
          <p:cNvSpPr>
            <a:spLocks noGrp="1"/>
          </p:cNvSpPr>
          <p:nvPr>
            <p:ph type="ftr" sz="quarter" idx="10"/>
            <p:custDataLst>
              <p:tags r:id="rId1"/>
            </p:custDataLst>
          </p:nvPr>
        </p:nvSpPr>
        <p:spPr>
          <a:xfrm>
            <a:off x="2336800" y="6324601"/>
            <a:ext cx="640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12"/>
          <p:cNvSpPr>
            <a:spLocks noGrp="1"/>
          </p:cNvSpPr>
          <p:nvPr>
            <p:ph type="sldNum" sz="quarter" idx="11"/>
            <p:custDataLst>
              <p:tags r:id="rId2"/>
            </p:custDataLst>
          </p:nvPr>
        </p:nvSpPr>
        <p:spPr>
          <a:xfrm>
            <a:off x="8636000" y="6400801"/>
            <a:ext cx="2844800" cy="365125"/>
          </a:xfrm>
          <a:prstGeom prst="rect">
            <a:avLst/>
          </a:prstGeom>
        </p:spPr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898989"/>
                </a:solidFill>
              </a:defRPr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79310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447803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0386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12-Nov-24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pic>
        <p:nvPicPr>
          <p:cNvPr id="6" name="Picture 5" descr="CNM logo_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8800" y="3"/>
            <a:ext cx="3403600" cy="126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0045872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lang="en-US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12-Nov-24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48747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Che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257175" indent="-257175">
              <a:buFont typeface="Wingdings" panose="05000000000000000000" pitchFamily="2" charset="2"/>
              <a:buChar char="ü"/>
              <a:defRPr/>
            </a:lvl1pPr>
            <a:lvl2pPr marL="557213" indent="-214313">
              <a:buFont typeface="Wingdings" panose="05000000000000000000" pitchFamily="2" charset="2"/>
              <a:buChar char="ü"/>
              <a:defRPr/>
            </a:lvl2pPr>
            <a:lvl3pPr marL="857250" indent="-171450">
              <a:buFont typeface="Wingdings" panose="05000000000000000000" pitchFamily="2" charset="2"/>
              <a:buChar char="ü"/>
              <a:defRPr/>
            </a:lvl3pPr>
            <a:lvl4pPr marL="1200150" indent="-171450">
              <a:buFont typeface="Wingdings" panose="05000000000000000000" pitchFamily="2" charset="2"/>
              <a:buChar char="ü"/>
              <a:defRPr/>
            </a:lvl4pPr>
            <a:lvl5pPr marL="1543050" indent="-171450">
              <a:buFont typeface="Wingdings" panose="05000000000000000000" pitchFamily="2" charset="2"/>
              <a:buChar char="ü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12-Nov-24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1516C32-2EEE-4D37-A3D7-4BF53FB583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09600" y="471948"/>
            <a:ext cx="10972800" cy="1128250"/>
          </a:xfrm>
          <a:prstGeom prst="rect">
            <a:avLst/>
          </a:prstGeom>
          <a:noFill/>
          <a:ln>
            <a:noFill/>
          </a:ln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lvl="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+mj-lt"/>
                <a:ea typeface="+mj-ea"/>
                <a:cs typeface="+mj-cs"/>
              </a:defRPr>
            </a:lvl1pPr>
            <a:lvl2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2pPr>
            <a:lvl3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3pPr>
            <a:lvl4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4pPr>
            <a:lvl5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9pPr>
          </a:lstStyle>
          <a:p>
            <a:pPr lvl="0"/>
            <a:r>
              <a:rPr lang="en-US" sz="3300" dirty="0"/>
              <a:t>Quality Check Items</a:t>
            </a:r>
          </a:p>
        </p:txBody>
      </p:sp>
    </p:spTree>
    <p:extLst>
      <p:ext uri="{BB962C8B-B14F-4D97-AF65-F5344CB8AC3E}">
        <p14:creationId xmlns:p14="http://schemas.microsoft.com/office/powerpoint/2010/main" val="382578682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12-Nov-24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05364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39624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39624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12-Nov-24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70133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12-Nov-24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31883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12-Nov-24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40267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12-Nov-24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70715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12-Nov-24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  <p:sp>
        <p:nvSpPr>
          <p:cNvPr id="5" name="Slide Number Placeholder 1"/>
          <p:cNvSpPr txBox="1">
            <a:spLocks/>
          </p:cNvSpPr>
          <p:nvPr/>
        </p:nvSpPr>
        <p:spPr>
          <a:xfrm>
            <a:off x="609600" y="5943603"/>
            <a:ext cx="10972800" cy="777875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742950" indent="-28575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11430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6002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20574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eaLnBrk="1" hangingPunct="1"/>
            <a:fld id="{BEC4B462-DC2D-47D4-8944-F81C2113999E}" type="slidenum">
              <a:rPr lang="en-US" sz="1350" smtClean="0"/>
              <a:pPr eaLnBrk="1" hangingPunct="1"/>
              <a:t>‹#›</a:t>
            </a:fld>
            <a:endParaRPr lang="en-US" sz="1350"/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304800" y="152401"/>
            <a:ext cx="5283200" cy="553998"/>
          </a:xfrm>
          <a:prstGeom prst="rect">
            <a:avLst/>
          </a:prstGeom>
          <a:solidFill>
            <a:schemeClr val="bg1">
              <a:alpha val="74901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ES" sz="3000" dirty="0"/>
              <a:t>Instructor </a:t>
            </a:r>
            <a:r>
              <a:rPr lang="es-ES" sz="3000" dirty="0" err="1"/>
              <a:t>Name</a:t>
            </a:r>
            <a:r>
              <a:rPr lang="es-ES" sz="3000" dirty="0"/>
              <a:t>:</a:t>
            </a:r>
          </a:p>
        </p:txBody>
      </p:sp>
      <p:sp>
        <p:nvSpPr>
          <p:cNvPr id="8" name="TextBox 3"/>
          <p:cNvSpPr txBox="1">
            <a:spLocks noChangeArrowheads="1"/>
          </p:cNvSpPr>
          <p:nvPr/>
        </p:nvSpPr>
        <p:spPr bwMode="auto">
          <a:xfrm>
            <a:off x="285753" y="873128"/>
            <a:ext cx="4692649" cy="1015663"/>
          </a:xfrm>
          <a:prstGeom prst="rect">
            <a:avLst/>
          </a:prstGeom>
          <a:solidFill>
            <a:schemeClr val="bg1">
              <a:alpha val="67058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3000" dirty="0"/>
              <a:t>Instructor ID #:</a:t>
            </a:r>
          </a:p>
          <a:p>
            <a:pPr eaLnBrk="1" hangingPunct="1"/>
            <a:r>
              <a:rPr lang="en-US" sz="3000" dirty="0"/>
              <a:t>Class ID #:  </a:t>
            </a:r>
            <a:endParaRPr lang="es-ES" sz="3000" dirty="0"/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3048000" y="4038603"/>
            <a:ext cx="3249608" cy="1200329"/>
          </a:xfrm>
          <a:prstGeom prst="rect">
            <a:avLst/>
          </a:prstGeom>
          <a:solidFill>
            <a:schemeClr val="bg1">
              <a:lumMod val="95000"/>
              <a:alpha val="51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7200" b="1" dirty="0">
                <a:latin typeface="Edwardian Script ITC" pitchFamily="66" charset="0"/>
              </a:rPr>
              <a:t>Thank you!</a:t>
            </a:r>
            <a:endParaRPr lang="es-ES" sz="7200" b="1" dirty="0">
              <a:latin typeface="Edwardian Script ITC" pitchFamily="66" charset="0"/>
            </a:endParaRP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5588000" y="304800"/>
            <a:ext cx="5791200" cy="533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5080000" y="990600"/>
            <a:ext cx="5791200" cy="533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3860800" y="1600200"/>
            <a:ext cx="5791200" cy="533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6046188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12-Nov-24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1016000" y="4419603"/>
            <a:ext cx="10363200" cy="136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 cap="all">
                <a:solidFill>
                  <a:srgbClr val="00499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9pPr>
          </a:lstStyle>
          <a:p>
            <a:r>
              <a:rPr lang="en-US" sz="3000" kern="0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57434988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12-Nov-24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49110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12-Nov-24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648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12-Nov-24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31170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7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12-Nov-24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20672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E9E2E97-EAE7-4386-88DC-7364DDD24368}" type="datetimeFigureOut">
              <a:rPr lang="en-US" smtClean="0"/>
              <a:t>12-Nov-24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09600" y="5943603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85556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27200" y="1600203"/>
            <a:ext cx="9855200" cy="45259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13"/>
          <p:cNvSpPr>
            <a:spLocks noGrp="1"/>
          </p:cNvSpPr>
          <p:nvPr>
            <p:ph type="ftr" sz="quarter" idx="10"/>
            <p:custDataLst>
              <p:tags r:id="rId1"/>
            </p:custDataLst>
          </p:nvPr>
        </p:nvSpPr>
        <p:spPr>
          <a:xfrm>
            <a:off x="2336800" y="6324603"/>
            <a:ext cx="640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12"/>
          <p:cNvSpPr>
            <a:spLocks noGrp="1"/>
          </p:cNvSpPr>
          <p:nvPr>
            <p:ph type="sldNum" sz="quarter" idx="11"/>
            <p:custDataLst>
              <p:tags r:id="rId2"/>
            </p:custDataLst>
          </p:nvPr>
        </p:nvSpPr>
        <p:spPr>
          <a:xfrm>
            <a:off x="8636000" y="6400803"/>
            <a:ext cx="2844800" cy="365125"/>
          </a:xfrm>
          <a:prstGeom prst="rect">
            <a:avLst/>
          </a:prstGeom>
        </p:spPr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898989"/>
                </a:solidFill>
              </a:defRPr>
            </a:lvl1pPr>
          </a:lstStyle>
          <a:p>
            <a:fld id="{505757B2-8DB5-4878-898B-2C2E9FBEA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31445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ocr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</p:spPr>
        <p:txBody>
          <a:bodyPr/>
          <a:lstStyle/>
          <a:p>
            <a:pPr>
              <a:defRPr/>
            </a:pPr>
            <a:fld id="{B98D8915-25D4-4658-BC43-48DE2220323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609600" y="1600205"/>
            <a:ext cx="10972800" cy="4530725"/>
          </a:xfrm>
        </p:spPr>
        <p:txBody>
          <a:bodyPr/>
          <a:lstStyle>
            <a:lvl1pPr marL="0" indent="0">
              <a:buFont typeface="+mj-lt"/>
              <a:buNone/>
              <a:defRPr/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  <a:p>
            <a:pPr marL="0" lvl="1" indent="0">
              <a:buNone/>
            </a:pPr>
            <a:r>
              <a:rPr lang="en-US"/>
              <a:t>Second level</a:t>
            </a:r>
          </a:p>
          <a:p>
            <a:pPr marL="0" lvl="2" indent="0">
              <a:buNone/>
            </a:pPr>
            <a:r>
              <a:rPr lang="en-US"/>
              <a:t>Third level</a:t>
            </a:r>
          </a:p>
          <a:p>
            <a:pPr marL="0" lvl="3" indent="0">
              <a:buNone/>
            </a:pPr>
            <a:r>
              <a:rPr lang="en-US"/>
              <a:t>Fourth level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43789" y="627745"/>
            <a:ext cx="7588075" cy="26545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n-US" sz="1125" dirty="0"/>
              <a:t>Go to </a:t>
            </a:r>
            <a:r>
              <a:rPr lang="en-US" sz="1125" dirty="0">
                <a:hlinkClick r:id="rId2"/>
              </a:rPr>
              <a:t>www.socrative.com</a:t>
            </a:r>
            <a:r>
              <a:rPr lang="en-US" sz="1125" dirty="0"/>
              <a:t> and log into &lt;instructor</a:t>
            </a:r>
            <a:r>
              <a:rPr lang="en-US" sz="1125" baseline="0" dirty="0"/>
              <a:t> account name&gt;</a:t>
            </a:r>
            <a:endParaRPr lang="en-US" sz="1125" dirty="0"/>
          </a:p>
        </p:txBody>
      </p:sp>
      <p:pic>
        <p:nvPicPr>
          <p:cNvPr id="1026" name="Picture 2" descr="https://socrative-production-static-web.s3.amazonaws.com/img/logo_new.jpg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133" y="412103"/>
            <a:ext cx="2922411" cy="7767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41872246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905005"/>
            <a:ext cx="10058400" cy="2593975"/>
          </a:xfrm>
        </p:spPr>
        <p:txBody>
          <a:bodyPr anchor="b"/>
          <a:lstStyle>
            <a:lvl1pPr>
              <a:defRPr sz="4400">
                <a:ln>
                  <a:noFill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572000"/>
            <a:ext cx="8615680" cy="106680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none"/>
        </p:style>
        <p:txBody>
          <a:bodyPr anchor="t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246991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>
            <a:normAutofit/>
          </a:bodyPr>
          <a:lstStyle>
            <a:lvl1pPr>
              <a:defRPr sz="3200"/>
            </a:lvl1pPr>
            <a:lvl2pPr>
              <a:defRPr sz="32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149367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7" y="5486400"/>
            <a:ext cx="10212916" cy="1168400"/>
          </a:xfrm>
        </p:spPr>
        <p:txBody>
          <a:bodyPr anchor="t"/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7" y="3852863"/>
            <a:ext cx="8180916" cy="1633538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none"/>
        </p:style>
        <p:txBody>
          <a:bodyPr anchor="b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257175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3508279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536192"/>
            <a:ext cx="5364480" cy="4590288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1800"/>
            </a:lvl4pPr>
            <a:lvl5pPr>
              <a:defRPr sz="1800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524000"/>
            <a:ext cx="5364480" cy="4590288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1800"/>
            </a:lvl4pPr>
            <a:lvl5pPr>
              <a:defRPr sz="1800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382296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70038"/>
            <a:ext cx="5364480" cy="639762"/>
          </a:xfrm>
          <a:noFill/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209800"/>
            <a:ext cx="5364480" cy="3951288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7600" y="1570038"/>
            <a:ext cx="5364480" cy="639762"/>
          </a:xfrm>
          <a:noFill/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7600" y="2209800"/>
            <a:ext cx="5364480" cy="3951288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6389126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8679390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528364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1" y="5495544"/>
            <a:ext cx="11379200" cy="594360"/>
          </a:xfrm>
        </p:spPr>
        <p:txBody>
          <a:bodyPr anchor="b"/>
          <a:lstStyle>
            <a:lvl1pPr algn="ctr">
              <a:defRPr sz="1238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6402" y="6096000"/>
            <a:ext cx="11379201" cy="609600"/>
          </a:xfr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>
            <a:normAutofit/>
          </a:bodyPr>
          <a:lstStyle>
            <a:lvl1pPr marL="0" indent="0" algn="ctr">
              <a:buNone/>
              <a:defRPr sz="900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06400" y="381000"/>
            <a:ext cx="11379200" cy="4942840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6849002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10363200" cy="1981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400" y="4114800"/>
            <a:ext cx="10363200" cy="1981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 rot="16200000">
            <a:off x="10474870" y="1584960"/>
            <a:ext cx="2438399" cy="487680"/>
          </a:xfrm>
          <a:prstGeom prst="rect">
            <a:avLst/>
          </a:prstGeom>
        </p:spPr>
        <p:txBody>
          <a:bodyPr/>
          <a:lstStyle/>
          <a:p>
            <a:fld id="{6F8B1E7F-8A42-40E4-9CF3-CF643FA4249D}" type="datetimeFigureOut">
              <a:rPr lang="en-US" smtClean="0"/>
              <a:t>12-Nov-24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 rot="16200000">
            <a:off x="10510429" y="3987800"/>
            <a:ext cx="2367281" cy="48768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</p:spPr>
        <p:txBody>
          <a:bodyPr/>
          <a:lstStyle/>
          <a:p>
            <a:fld id="{01E7E831-D999-4C39-9960-F100EE735C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87483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cr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</p:spPr>
        <p:txBody>
          <a:bodyPr/>
          <a:lstStyle/>
          <a:p>
            <a:pPr>
              <a:defRPr/>
            </a:pPr>
            <a:fld id="{B98D8915-25D4-4658-BC43-48DE2220323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609600" y="1600205"/>
            <a:ext cx="10972800" cy="4530725"/>
          </a:xfrm>
        </p:spPr>
        <p:txBody>
          <a:bodyPr/>
          <a:lstStyle>
            <a:lvl1pPr marL="0" indent="0">
              <a:buFont typeface="+mj-lt"/>
              <a:buNone/>
              <a:defRPr/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  <a:p>
            <a:pPr marL="0" lvl="1" indent="0">
              <a:buNone/>
            </a:pPr>
            <a:r>
              <a:rPr lang="en-US"/>
              <a:t>Second level</a:t>
            </a:r>
          </a:p>
          <a:p>
            <a:pPr marL="0" lvl="2" indent="0">
              <a:buNone/>
            </a:pPr>
            <a:r>
              <a:rPr lang="en-US"/>
              <a:t>Third level</a:t>
            </a:r>
          </a:p>
          <a:p>
            <a:pPr marL="0" lvl="3" indent="0">
              <a:buNone/>
            </a:pPr>
            <a:r>
              <a:rPr lang="en-US"/>
              <a:t>Fourth level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43789" y="627745"/>
            <a:ext cx="7588075" cy="40011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n-US" sz="2000" dirty="0"/>
              <a:t>Go to </a:t>
            </a:r>
            <a:r>
              <a:rPr lang="en-US" sz="2000" dirty="0">
                <a:hlinkClick r:id="rId2"/>
              </a:rPr>
              <a:t>www.socrative.com</a:t>
            </a:r>
            <a:r>
              <a:rPr lang="en-US" sz="2000" dirty="0"/>
              <a:t> and log into &lt;instructor</a:t>
            </a:r>
            <a:r>
              <a:rPr lang="en-US" sz="2000" baseline="0" dirty="0"/>
              <a:t> account name&gt;</a:t>
            </a:r>
            <a:endParaRPr lang="en-US" sz="2000" dirty="0"/>
          </a:p>
        </p:txBody>
      </p:sp>
      <p:pic>
        <p:nvPicPr>
          <p:cNvPr id="1026" name="Picture 2" descr="https://socrative-production-static-web.s3.amazonaws.com/img/logo_new.jpg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133" y="412103"/>
            <a:ext cx="2922411" cy="7767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57601705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9532" y="679269"/>
            <a:ext cx="10010594" cy="4168018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9532" y="4847287"/>
            <a:ext cx="10010594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2800" cap="all">
                <a:solidFill>
                  <a:srgbClr val="F3C38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49355F89-2AAD-4B2E-AFCA-E33F03CE3B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13006" y="6350725"/>
            <a:ext cx="1600200" cy="3778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3C380"/>
                </a:solidFill>
              </a:defRPr>
            </a:lvl1pPr>
          </a:lstStyle>
          <a:p>
            <a:fld id="{1D48FDF9-71F6-4433-98F3-AEE13E8E99FC}" type="datetime1">
              <a:rPr lang="en-US" smtClean="0"/>
              <a:t>12-Nov-24</a:t>
            </a:fld>
            <a:endParaRPr lang="en-US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74E7F4F6-9FEB-46ED-9004-66D88282DD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1555" y="6350725"/>
            <a:ext cx="8637043" cy="3778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3C380"/>
                </a:solidFill>
              </a:defRPr>
            </a:lvl1pPr>
          </a:lstStyle>
          <a:p>
            <a:r>
              <a:rPr lang="en-US"/>
              <a:t>Test</a:t>
            </a:r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6E98B10A-4B1C-4D5D-8848-C32D0A625C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27614" y="6350725"/>
            <a:ext cx="551167" cy="3778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3C380"/>
                </a:solidFill>
              </a:defRPr>
            </a:lvl1pPr>
          </a:lstStyle>
          <a:p>
            <a:fld id="{32FAB481-7C2D-4A00-93C0-15E86CFC7E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24244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>
            <a:lvl1pPr>
              <a:buClr>
                <a:srgbClr val="F3C380"/>
              </a:buClr>
              <a:defRPr sz="3600">
                <a:solidFill>
                  <a:srgbClr val="F3C380"/>
                </a:solidFill>
              </a:defRPr>
            </a:lvl1pPr>
            <a:lvl2pPr>
              <a:buClr>
                <a:srgbClr val="F3C380"/>
              </a:buClr>
              <a:defRPr sz="3200">
                <a:solidFill>
                  <a:srgbClr val="F3C380"/>
                </a:solidFill>
              </a:defRPr>
            </a:lvl2pPr>
            <a:lvl3pPr>
              <a:buClr>
                <a:srgbClr val="F3C380"/>
              </a:buClr>
              <a:defRPr sz="2800">
                <a:solidFill>
                  <a:srgbClr val="F3C380"/>
                </a:solidFill>
              </a:defRPr>
            </a:lvl3pPr>
            <a:lvl4pPr>
              <a:buClr>
                <a:srgbClr val="F3C380"/>
              </a:buClr>
              <a:defRPr sz="2400">
                <a:solidFill>
                  <a:srgbClr val="F3C380"/>
                </a:solidFill>
              </a:defRPr>
            </a:lvl4pPr>
            <a:lvl5pPr>
              <a:buClr>
                <a:srgbClr val="F3C380"/>
              </a:buClr>
              <a:defRPr sz="2400">
                <a:solidFill>
                  <a:srgbClr val="F3C3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2">
            <a:extLst>
              <a:ext uri="{FF2B5EF4-FFF2-40B4-BE49-F238E27FC236}">
                <a16:creationId xmlns:a16="http://schemas.microsoft.com/office/drawing/2014/main" id="{449267AA-56AC-482C-ABDE-DBDB3ACF7B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13006" y="6350725"/>
            <a:ext cx="1600200" cy="3778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3C380"/>
                </a:solidFill>
              </a:defRPr>
            </a:lvl1pPr>
          </a:lstStyle>
          <a:p>
            <a:fld id="{9D74545B-1DD7-4A31-B801-A2904C3DD6AA}" type="datetime1">
              <a:rPr lang="en-US" smtClean="0"/>
              <a:t>12-Nov-24</a:t>
            </a:fld>
            <a:endParaRPr lang="en-US"/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8AC9C278-3F41-423C-B4C5-763A6A872D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1555" y="6350725"/>
            <a:ext cx="8637043" cy="3778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3C380"/>
                </a:solidFill>
              </a:defRPr>
            </a:lvl1pPr>
          </a:lstStyle>
          <a:p>
            <a:r>
              <a:rPr lang="en-US"/>
              <a:t>Test</a:t>
            </a: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B6C081B7-7D60-4962-AAEA-5A91031C4F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27614" y="6350725"/>
            <a:ext cx="551167" cy="3778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3C380"/>
                </a:solidFill>
              </a:defRPr>
            </a:lvl1pPr>
          </a:lstStyle>
          <a:p>
            <a:fld id="{32FAB481-7C2D-4A00-93C0-15E86CFC7E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04140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7355" y="3308581"/>
            <a:ext cx="9669872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7355" y="4777381"/>
            <a:ext cx="9669872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rgbClr val="F3C380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2">
            <a:extLst>
              <a:ext uri="{FF2B5EF4-FFF2-40B4-BE49-F238E27FC236}">
                <a16:creationId xmlns:a16="http://schemas.microsoft.com/office/drawing/2014/main" id="{58FC4622-EA37-4F18-A796-70D9A7F325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13006" y="6350725"/>
            <a:ext cx="1600200" cy="3778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3C380"/>
                </a:solidFill>
              </a:defRPr>
            </a:lvl1pPr>
          </a:lstStyle>
          <a:p>
            <a:fld id="{B2DBFC22-6395-4DAE-894E-B0472C0181AE}" type="datetime1">
              <a:rPr lang="en-US" smtClean="0"/>
              <a:t>12-Nov-24</a:t>
            </a:fld>
            <a:endParaRPr lang="en-US"/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DF568178-DD3E-43DC-B06B-052DD627CE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1555" y="6350725"/>
            <a:ext cx="8637043" cy="3778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3C380"/>
                </a:solidFill>
              </a:defRPr>
            </a:lvl1pPr>
          </a:lstStyle>
          <a:p>
            <a:r>
              <a:rPr lang="en-US"/>
              <a:t>Test</a:t>
            </a: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F0CD2B06-9966-4CFD-9953-7074187935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27614" y="6350725"/>
            <a:ext cx="551167" cy="3778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3C380"/>
                </a:solidFill>
              </a:defRPr>
            </a:lvl1pPr>
          </a:lstStyle>
          <a:p>
            <a:fld id="{32FAB481-7C2D-4A00-93C0-15E86CFC7E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88747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7356" y="2169779"/>
            <a:ext cx="4995334" cy="405249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83449" y="2169779"/>
            <a:ext cx="4995332" cy="405249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2">
            <a:extLst>
              <a:ext uri="{FF2B5EF4-FFF2-40B4-BE49-F238E27FC236}">
                <a16:creationId xmlns:a16="http://schemas.microsoft.com/office/drawing/2014/main" id="{04D11519-4569-490D-9102-58C309F451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3006" y="6350725"/>
            <a:ext cx="1600200" cy="3778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3C380"/>
                </a:solidFill>
              </a:defRPr>
            </a:lvl1pPr>
          </a:lstStyle>
          <a:p>
            <a:fld id="{81F3C0C3-FB58-4538-9DFF-2F59094039AD}" type="datetime1">
              <a:rPr lang="en-US" smtClean="0"/>
              <a:t>12-Nov-24</a:t>
            </a:fld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D78E8F28-D86C-4F5B-9C20-CEE8B12E9B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1555" y="6350725"/>
            <a:ext cx="8637043" cy="3778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3C380"/>
                </a:solidFill>
              </a:defRPr>
            </a:lvl1pPr>
          </a:lstStyle>
          <a:p>
            <a:r>
              <a:rPr lang="en-US"/>
              <a:t>Test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D26C7E0F-A7C2-422E-B336-68A1509B82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27614" y="6350725"/>
            <a:ext cx="551167" cy="3778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3C380"/>
                </a:solidFill>
              </a:defRPr>
            </a:lvl1pPr>
          </a:lstStyle>
          <a:p>
            <a:fld id="{32FAB481-7C2D-4A00-93C0-15E86CFC7E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66470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62704" y="2222749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7355" y="2866375"/>
            <a:ext cx="4996923" cy="335590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85037" y="2231216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85037" y="2866375"/>
            <a:ext cx="4995334" cy="335590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546FBD3F-1ADB-4731-A596-7A217E5B1A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3006" y="6350725"/>
            <a:ext cx="1600200" cy="3778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3C380"/>
                </a:solidFill>
              </a:defRPr>
            </a:lvl1pPr>
          </a:lstStyle>
          <a:p>
            <a:fld id="{DAC3268B-4632-448C-9DA5-1541CCE5EE4D}" type="datetime1">
              <a:rPr lang="en-US" smtClean="0"/>
              <a:t>12-Nov-24</a:t>
            </a:fld>
            <a:endParaRPr lang="en-US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B5C115F8-BA3E-495C-B700-A5EFC3E4D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1555" y="6350725"/>
            <a:ext cx="8637043" cy="3778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3C380"/>
                </a:solidFill>
              </a:defRPr>
            </a:lvl1pPr>
          </a:lstStyle>
          <a:p>
            <a:r>
              <a:rPr lang="en-US"/>
              <a:t>Test</a:t>
            </a:r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75622574-9F7A-4AB6-940E-8BD78BE9F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7614" y="6350725"/>
            <a:ext cx="551167" cy="3778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3C380"/>
                </a:solidFill>
              </a:defRPr>
            </a:lvl1pPr>
          </a:lstStyle>
          <a:p>
            <a:fld id="{32FAB481-7C2D-4A00-93C0-15E86CFC7E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054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686E1DC6-EB47-40D1-A045-48C1D8A544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13006" y="6350725"/>
            <a:ext cx="1600200" cy="3778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3C380"/>
                </a:solidFill>
              </a:defRPr>
            </a:lvl1pPr>
          </a:lstStyle>
          <a:p>
            <a:fld id="{745AE6ED-27FA-4248-82C9-7B5508E1974B}" type="datetime1">
              <a:rPr lang="en-US" smtClean="0"/>
              <a:t>12-Nov-24</a:t>
            </a:fld>
            <a:endParaRPr lang="en-US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62CDF8FE-3A13-48D2-B675-A9BC484CE7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1555" y="6350725"/>
            <a:ext cx="8637043" cy="3778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3C380"/>
                </a:solidFill>
              </a:defRPr>
            </a:lvl1pPr>
          </a:lstStyle>
          <a:p>
            <a:r>
              <a:rPr lang="en-US"/>
              <a:t>Test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6C46956E-EAA5-49BB-A80A-2E57E2491F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27614" y="6350725"/>
            <a:ext cx="551167" cy="3778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3C380"/>
                </a:solidFill>
              </a:defRPr>
            </a:lvl1pPr>
          </a:lstStyle>
          <a:p>
            <a:fld id="{32FAB481-7C2D-4A00-93C0-15E86CFC7E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94175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47FC059C-363B-441C-AA4A-ACB0E5E105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13006" y="6350725"/>
            <a:ext cx="1600200" cy="3778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3C380"/>
                </a:solidFill>
              </a:defRPr>
            </a:lvl1pPr>
          </a:lstStyle>
          <a:p>
            <a:fld id="{E6A8C301-A748-40C2-9AFF-18A3932C64EF}" type="datetime1">
              <a:rPr lang="en-US" smtClean="0"/>
              <a:t>12-Nov-24</a:t>
            </a:fld>
            <a:endParaRPr lang="en-US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A732AA09-BEEF-4273-9DA2-EDE802970E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1555" y="6350725"/>
            <a:ext cx="8637043" cy="3778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3C380"/>
                </a:solidFill>
              </a:defRPr>
            </a:lvl1pPr>
          </a:lstStyle>
          <a:p>
            <a:r>
              <a:rPr lang="en-US"/>
              <a:t>Test</a:t>
            </a:r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FC6592BD-ACAA-4F09-9CE4-533E18930E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27614" y="6350725"/>
            <a:ext cx="551167" cy="3778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3C380"/>
                </a:solidFill>
              </a:defRPr>
            </a:lvl1pPr>
          </a:lstStyle>
          <a:p>
            <a:fld id="{32FAB481-7C2D-4A00-93C0-15E86CFC7E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47751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7355" y="2048207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756" y="583474"/>
            <a:ext cx="6169026" cy="5721531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7355" y="3419807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2">
            <a:extLst>
              <a:ext uri="{FF2B5EF4-FFF2-40B4-BE49-F238E27FC236}">
                <a16:creationId xmlns:a16="http://schemas.microsoft.com/office/drawing/2014/main" id="{758A7760-AF92-41CD-BEB3-1BD04B822F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3006" y="6350725"/>
            <a:ext cx="1600200" cy="3778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3C380"/>
                </a:solidFill>
              </a:defRPr>
            </a:lvl1pPr>
          </a:lstStyle>
          <a:p>
            <a:fld id="{79F5A681-6C97-4E73-87F0-023387985D77}" type="datetime1">
              <a:rPr lang="en-US" smtClean="0"/>
              <a:t>12-Nov-24</a:t>
            </a:fld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1970FC32-07D9-402F-844A-E14782300C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1555" y="6350725"/>
            <a:ext cx="8637043" cy="3778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3C380"/>
                </a:solidFill>
              </a:defRPr>
            </a:lvl1pPr>
          </a:lstStyle>
          <a:p>
            <a:r>
              <a:rPr lang="en-US"/>
              <a:t>Test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2E2382E1-AE4B-4C39-87CD-08744533BC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27614" y="6350725"/>
            <a:ext cx="551167" cy="3778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3C380"/>
                </a:solidFill>
              </a:defRPr>
            </a:lvl1pPr>
          </a:lstStyle>
          <a:p>
            <a:fld id="{32FAB481-7C2D-4A00-93C0-15E86CFC7E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81230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7355" y="1574075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894" y="914400"/>
            <a:ext cx="3787180" cy="5277393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7355" y="2945675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2">
            <a:extLst>
              <a:ext uri="{FF2B5EF4-FFF2-40B4-BE49-F238E27FC236}">
                <a16:creationId xmlns:a16="http://schemas.microsoft.com/office/drawing/2014/main" id="{B1A638DA-9403-4026-8D59-3ED440E1A4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3006" y="6350725"/>
            <a:ext cx="1600200" cy="3778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3C380"/>
                </a:solidFill>
              </a:defRPr>
            </a:lvl1pPr>
          </a:lstStyle>
          <a:p>
            <a:fld id="{52EE0F72-D41D-415C-8E83-03FBDB68B798}" type="datetime1">
              <a:rPr lang="en-US" smtClean="0"/>
              <a:t>12-Nov-24</a:t>
            </a:fld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7A4C7D40-0DA4-4581-B9B2-A401DE3BD6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1555" y="6350725"/>
            <a:ext cx="8637043" cy="3778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3C380"/>
                </a:solidFill>
              </a:defRPr>
            </a:lvl1pPr>
          </a:lstStyle>
          <a:p>
            <a:r>
              <a:rPr lang="en-US"/>
              <a:t>Test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A93F6ABE-5230-4F53-A99A-C98BD13583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27614" y="6350725"/>
            <a:ext cx="551167" cy="3778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3C380"/>
                </a:solidFill>
              </a:defRPr>
            </a:lvl1pPr>
          </a:lstStyle>
          <a:p>
            <a:fld id="{32FAB481-7C2D-4A00-93C0-15E86CFC7E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7130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8315" y="5185712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1" y="932111"/>
            <a:ext cx="9968142" cy="4057899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08315" y="5752450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2">
            <a:extLst>
              <a:ext uri="{FF2B5EF4-FFF2-40B4-BE49-F238E27FC236}">
                <a16:creationId xmlns:a16="http://schemas.microsoft.com/office/drawing/2014/main" id="{241BFB6F-BF79-4CD7-BE6F-86CD4452E8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3006" y="6350725"/>
            <a:ext cx="1600200" cy="3778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3C380"/>
                </a:solidFill>
              </a:defRPr>
            </a:lvl1pPr>
          </a:lstStyle>
          <a:p>
            <a:fld id="{BE2BCCA7-2702-4592-9CF4-B58668C0C967}" type="datetime1">
              <a:rPr lang="en-US" smtClean="0"/>
              <a:t>12-Nov-24</a:t>
            </a:fld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8C247CA8-785D-40BC-8645-EE538F1B08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1555" y="6350725"/>
            <a:ext cx="8637043" cy="3778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3C380"/>
                </a:solidFill>
              </a:defRPr>
            </a:lvl1pPr>
          </a:lstStyle>
          <a:p>
            <a:r>
              <a:rPr lang="en-US"/>
              <a:t>Test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E1790A4D-8649-47FB-8F0C-B6A891E0F9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27614" y="6350725"/>
            <a:ext cx="551167" cy="3778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3C380"/>
                </a:solidFill>
              </a:defRPr>
            </a:lvl1pPr>
          </a:lstStyle>
          <a:p>
            <a:fld id="{32FAB481-7C2D-4A00-93C0-15E86CFC7E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32347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cr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</p:spPr>
        <p:txBody>
          <a:bodyPr/>
          <a:lstStyle/>
          <a:p>
            <a:pPr>
              <a:defRPr/>
            </a:pPr>
            <a:fld id="{B98D8915-25D4-4658-BC43-48DE2220323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1156446" y="1600205"/>
            <a:ext cx="10425953" cy="4530725"/>
          </a:xfrm>
        </p:spPr>
        <p:txBody>
          <a:bodyPr/>
          <a:lstStyle>
            <a:lvl1pPr marL="0" indent="0">
              <a:buFont typeface="+mj-lt"/>
              <a:buNone/>
              <a:defRPr/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  <a:p>
            <a:pPr marL="0" lvl="1" indent="0">
              <a:buNone/>
            </a:pPr>
            <a:r>
              <a:rPr lang="en-US"/>
              <a:t>Second level</a:t>
            </a:r>
          </a:p>
          <a:p>
            <a:pPr marL="0" lvl="2" indent="0">
              <a:buNone/>
            </a:pPr>
            <a:r>
              <a:rPr lang="en-US"/>
              <a:t>Third level</a:t>
            </a:r>
          </a:p>
          <a:p>
            <a:pPr marL="0" lvl="3" indent="0">
              <a:buNone/>
            </a:pPr>
            <a:r>
              <a:rPr lang="en-US"/>
              <a:t>Fourth level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73806" y="727070"/>
            <a:ext cx="7201911" cy="46166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n-US" sz="2400" dirty="0"/>
              <a:t>Go to </a:t>
            </a:r>
            <a:r>
              <a:rPr lang="en-US" sz="2400" dirty="0">
                <a:hlinkClick r:id="rId2"/>
              </a:rPr>
              <a:t>www.socrative.com</a:t>
            </a:r>
            <a:r>
              <a:rPr lang="en-US" sz="2400" dirty="0"/>
              <a:t> and log into CNMROBGARNER</a:t>
            </a:r>
          </a:p>
        </p:txBody>
      </p:sp>
      <p:pic>
        <p:nvPicPr>
          <p:cNvPr id="1026" name="Picture 2" descr="https://socrative-production-static-web.s3.amazonaws.com/img/logo_new.jpg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446" y="568088"/>
            <a:ext cx="2922411" cy="7767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450283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9.xml"/><Relationship Id="rId13" Type="http://schemas.openxmlformats.org/officeDocument/2006/relationships/slideLayout" Target="../slideLayouts/slideLayout44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8.xml"/><Relationship Id="rId12" Type="http://schemas.openxmlformats.org/officeDocument/2006/relationships/slideLayout" Target="../slideLayouts/slideLayout43.xml"/><Relationship Id="rId17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47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42.xml"/><Relationship Id="rId5" Type="http://schemas.openxmlformats.org/officeDocument/2006/relationships/slideLayout" Target="../slideLayouts/slideLayout36.xml"/><Relationship Id="rId15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41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14" Type="http://schemas.openxmlformats.org/officeDocument/2006/relationships/slideLayout" Target="../slideLayouts/slideLayout4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image" Target="../media/image5.png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6.xml"/><Relationship Id="rId13" Type="http://schemas.openxmlformats.org/officeDocument/2006/relationships/image" Target="../media/image7.png"/><Relationship Id="rId3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60.xml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69.xml"/><Relationship Id="rId5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68.xml"/><Relationship Id="rId4" Type="http://schemas.openxmlformats.org/officeDocument/2006/relationships/slideLayout" Target="../slideLayouts/slideLayout62.xml"/><Relationship Id="rId9" Type="http://schemas.openxmlformats.org/officeDocument/2006/relationships/slideLayout" Target="../slideLayouts/slideLayout67.xml"/><Relationship Id="rId14" Type="http://schemas.openxmlformats.org/officeDocument/2006/relationships/image" Target="../media/image8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" name="Picture 2" descr="stemulus_cnm_logos.jpg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5833242"/>
            <a:ext cx="10961801" cy="851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310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4990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4990"/>
          </a:solidFill>
          <a:latin typeface="Arial Black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4990"/>
          </a:solidFill>
          <a:latin typeface="Arial Black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4990"/>
          </a:solidFill>
          <a:latin typeface="Arial Black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4990"/>
          </a:solidFill>
          <a:latin typeface="Arial Black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4990"/>
          </a:solidFill>
          <a:latin typeface="Arial Black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4990"/>
          </a:solidFill>
          <a:latin typeface="Arial Black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4990"/>
          </a:solidFill>
          <a:latin typeface="Arial Black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4990"/>
          </a:solidFill>
          <a:latin typeface="Arial Black" pitchFamily="34" charset="0"/>
        </a:defRPr>
      </a:lvl9pPr>
    </p:titleStyle>
    <p:bodyStyle>
      <a:lvl1pPr marL="342900" indent="-342900" algn="l" rtl="0" eaLnBrk="1" fontAlgn="base" hangingPunct="1">
        <a:spcBef>
          <a:spcPts val="0"/>
        </a:spcBef>
        <a:spcAft>
          <a:spcPts val="1200"/>
        </a:spcAft>
        <a:buFont typeface="Webdings" pitchFamily="18" charset="2"/>
        <a:buChar char="4"/>
        <a:defRPr sz="3200">
          <a:solidFill>
            <a:srgbClr val="004990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ts val="0"/>
        </a:spcBef>
        <a:spcAft>
          <a:spcPts val="1200"/>
        </a:spcAft>
        <a:buChar char="–"/>
        <a:defRPr sz="2800">
          <a:solidFill>
            <a:srgbClr val="004990"/>
          </a:solidFill>
          <a:latin typeface="Arial" charset="0"/>
        </a:defRPr>
      </a:lvl2pPr>
      <a:lvl3pPr marL="1143000" indent="-228600" algn="l" rtl="0" eaLnBrk="1" fontAlgn="base" hangingPunct="1">
        <a:spcBef>
          <a:spcPts val="0"/>
        </a:spcBef>
        <a:spcAft>
          <a:spcPts val="1200"/>
        </a:spcAft>
        <a:buChar char="•"/>
        <a:defRPr sz="2400">
          <a:solidFill>
            <a:srgbClr val="004990"/>
          </a:solidFill>
          <a:latin typeface="Arial" charset="0"/>
        </a:defRPr>
      </a:lvl3pPr>
      <a:lvl4pPr marL="1600200" indent="-228600" algn="l" rtl="0" eaLnBrk="1" fontAlgn="base" hangingPunct="1">
        <a:spcBef>
          <a:spcPts val="0"/>
        </a:spcBef>
        <a:spcAft>
          <a:spcPts val="1200"/>
        </a:spcAft>
        <a:buChar char="–"/>
        <a:defRPr sz="2000">
          <a:solidFill>
            <a:srgbClr val="004990"/>
          </a:solidFill>
          <a:latin typeface="Arial Narrow" pitchFamily="34" charset="0"/>
        </a:defRPr>
      </a:lvl4pPr>
      <a:lvl5pPr marL="2057400" indent="-228600" algn="l" rtl="0" eaLnBrk="1" fontAlgn="base" hangingPunct="1">
        <a:spcBef>
          <a:spcPts val="0"/>
        </a:spcBef>
        <a:spcAft>
          <a:spcPts val="1200"/>
        </a:spcAft>
        <a:buChar char="»"/>
        <a:defRPr sz="2000">
          <a:solidFill>
            <a:srgbClr val="004990"/>
          </a:solidFill>
          <a:latin typeface="Arial Narrow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04990"/>
          </a:solidFill>
          <a:latin typeface="Arial Narrow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04990"/>
          </a:solidFill>
          <a:latin typeface="Arial Narrow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04990"/>
          </a:solidFill>
          <a:latin typeface="Arial Narrow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04990"/>
          </a:solidFill>
          <a:latin typeface="Arial Narrow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199"/>
            <a:ext cx="10972800" cy="4492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09600" y="6211956"/>
            <a:ext cx="10972800" cy="455827"/>
          </a:xfrm>
          <a:prstGeom prst="rect">
            <a:avLst/>
          </a:prstGeom>
          <a:solidFill>
            <a:srgbClr val="3E3E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Slides based on material from:</a:t>
            </a:r>
            <a:r>
              <a:rPr lang="en-US" sz="1400" baseline="0" dirty="0"/>
              <a:t> </a:t>
            </a:r>
            <a:r>
              <a:rPr lang="en-US" sz="1400" u="sng" dirty="0"/>
              <a:t>Professional C# 5.0 and .NET 4.5.1.</a:t>
            </a:r>
            <a:r>
              <a:rPr lang="en-US" sz="1400" u="none" dirty="0"/>
              <a:t> Nagel,</a:t>
            </a:r>
            <a:r>
              <a:rPr lang="en-US" sz="1400" dirty="0"/>
              <a:t> Christian; Glynn, Jay; Skinner, Morgan (2014-02-19). Wiley. </a:t>
            </a:r>
          </a:p>
        </p:txBody>
      </p:sp>
    </p:spTree>
    <p:extLst>
      <p:ext uri="{BB962C8B-B14F-4D97-AF65-F5344CB8AC3E}">
        <p14:creationId xmlns:p14="http://schemas.microsoft.com/office/powerpoint/2010/main" val="2230036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  <p:sldLayoutId id="2147483691" r:id="rId15"/>
    <p:sldLayoutId id="2147483692" r:id="rId16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4990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4990"/>
          </a:solidFill>
          <a:latin typeface="Arial Black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4990"/>
          </a:solidFill>
          <a:latin typeface="Arial Black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4990"/>
          </a:solidFill>
          <a:latin typeface="Arial Black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4990"/>
          </a:solidFill>
          <a:latin typeface="Arial Black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4990"/>
          </a:solidFill>
          <a:latin typeface="Arial Black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4990"/>
          </a:solidFill>
          <a:latin typeface="Arial Black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4990"/>
          </a:solidFill>
          <a:latin typeface="Arial Black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4990"/>
          </a:solidFill>
          <a:latin typeface="Arial Black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Webdings" pitchFamily="18" charset="2"/>
        <a:buChar char="4"/>
        <a:defRPr sz="3200">
          <a:solidFill>
            <a:srgbClr val="004990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rgbClr val="004990"/>
          </a:solidFill>
          <a:latin typeface="Arial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rgbClr val="004990"/>
          </a:solidFill>
          <a:latin typeface="Arial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rgbClr val="004990"/>
          </a:solidFill>
          <a:latin typeface="Arial Narrow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04990"/>
          </a:solidFill>
          <a:latin typeface="Arial Narrow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04990"/>
          </a:solidFill>
          <a:latin typeface="Arial Narrow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04990"/>
          </a:solidFill>
          <a:latin typeface="Arial Narrow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04990"/>
          </a:solidFill>
          <a:latin typeface="Arial Narrow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04990"/>
          </a:solidFill>
          <a:latin typeface="Arial Narrow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492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09600" y="6211958"/>
            <a:ext cx="10972800" cy="455827"/>
          </a:xfrm>
          <a:prstGeom prst="rect">
            <a:avLst/>
          </a:prstGeom>
          <a:solidFill>
            <a:srgbClr val="3E3E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Slides based on material from:</a:t>
            </a:r>
            <a:r>
              <a:rPr lang="en-US" sz="1050" baseline="0" dirty="0"/>
              <a:t> </a:t>
            </a:r>
            <a:r>
              <a:rPr lang="en-US" sz="1050" u="sng" dirty="0"/>
              <a:t>Professional C# 5.0 and .NET 4.5.1.</a:t>
            </a:r>
            <a:r>
              <a:rPr lang="en-US" sz="1050" u="none" dirty="0"/>
              <a:t> Nagel,</a:t>
            </a:r>
            <a:r>
              <a:rPr lang="en-US" sz="1050" dirty="0"/>
              <a:t> Christian; Glynn, Jay; Skinner, Morgan (2014-02-19). Wiley. </a:t>
            </a:r>
          </a:p>
        </p:txBody>
      </p:sp>
    </p:spTree>
    <p:extLst>
      <p:ext uri="{BB962C8B-B14F-4D97-AF65-F5344CB8AC3E}">
        <p14:creationId xmlns:p14="http://schemas.microsoft.com/office/powerpoint/2010/main" val="2597479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  <p:sldLayoutId id="2147483710" r:id="rId17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Font typeface="Webdings" pitchFamily="18" charset="2"/>
        <a:buChar char="4"/>
        <a:defRPr sz="2400">
          <a:solidFill>
            <a:srgbClr val="004990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sz="2100">
          <a:solidFill>
            <a:srgbClr val="004990"/>
          </a:solidFill>
          <a:latin typeface="Arial" charset="0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rgbClr val="004990"/>
          </a:solidFill>
          <a:latin typeface="Arial" charset="0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sz="1500">
          <a:solidFill>
            <a:srgbClr val="004990"/>
          </a:solidFill>
          <a:latin typeface="Arial Narrow" pitchFamily="34" charset="0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4990"/>
          </a:solidFill>
          <a:latin typeface="Arial Narrow" pitchFamily="34" charset="0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4990"/>
          </a:solidFill>
          <a:latin typeface="Arial Narrow" pitchFamily="34" charset="0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4990"/>
          </a:solidFill>
          <a:latin typeface="Arial Narrow" pitchFamily="34" charset="0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4990"/>
          </a:solidFill>
          <a:latin typeface="Arial Narrow" pitchFamily="34" charset="0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4990"/>
          </a:solidFill>
          <a:latin typeface="Arial Narrow" pitchFamily="34" charset="0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 l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76400"/>
            <a:ext cx="10972800" cy="480060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8346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</p:sldLayoutIdLst>
  <p:txStyles>
    <p:titleStyle>
      <a:lvl1pPr algn="l" defTabSz="514350" rtl="0" eaLnBrk="1" latinLnBrk="0" hangingPunct="1">
        <a:spcBef>
          <a:spcPct val="0"/>
        </a:spcBef>
        <a:buNone/>
        <a:defRPr sz="4000" kern="1200" cap="none" spc="-56" baseline="0">
          <a:ln>
            <a:noFill/>
          </a:ln>
          <a:solidFill>
            <a:schemeClr val="bg1"/>
          </a:solidFill>
          <a:effectLst/>
          <a:latin typeface="+mj-lt"/>
          <a:ea typeface="+mj-ea"/>
          <a:cs typeface="+mj-cs"/>
        </a:defRPr>
      </a:lvl1pPr>
    </p:titleStyle>
    <p:bodyStyle>
      <a:lvl1pPr marL="192881" indent="-128588" algn="l" defTabSz="514350" rtl="0" eaLnBrk="1" latinLnBrk="0" hangingPunct="1">
        <a:spcBef>
          <a:spcPct val="20000"/>
        </a:spcBef>
        <a:buClrTx/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indent="-128588" algn="l" defTabSz="514350" rtl="0" eaLnBrk="1" latinLnBrk="0" hangingPunct="1">
        <a:spcBef>
          <a:spcPct val="20000"/>
        </a:spcBef>
        <a:buClrTx/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565785" indent="-128588" algn="l" defTabSz="514350" rtl="0" eaLnBrk="1" latinLnBrk="0" hangingPunct="1">
        <a:spcBef>
          <a:spcPct val="20000"/>
        </a:spcBef>
        <a:buClrTx/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720090" indent="-128588" algn="l" defTabSz="514350" rtl="0" eaLnBrk="1" latinLnBrk="0" hangingPunct="1">
        <a:spcBef>
          <a:spcPct val="20000"/>
        </a:spcBef>
        <a:buClrTx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874395" indent="-128588" algn="l" defTabSz="514350" rtl="0" eaLnBrk="1" latinLnBrk="0" hangingPunct="1">
        <a:spcBef>
          <a:spcPct val="20000"/>
        </a:spcBef>
        <a:buClrTx/>
        <a:buFont typeface="Wingdings" panose="05000000000000000000" pitchFamily="2" charset="2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977265" indent="-102870" algn="l" defTabSz="51435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788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080135" indent="-102870" algn="l" defTabSz="51435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7pPr>
      <a:lvl8pPr marL="1183005" indent="-102870" algn="l" defTabSz="51435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8pPr>
      <a:lvl9pPr marL="1285875" indent="-102870" algn="l" defTabSz="51435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7355" y="635725"/>
            <a:ext cx="10131426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7356" y="2168192"/>
            <a:ext cx="10131425" cy="40540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7BD914E-23B0-42EA-89BB-09F655B4DDE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555" y="635725"/>
            <a:ext cx="675367" cy="56388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</p:pic>
      <p:sp>
        <p:nvSpPr>
          <p:cNvPr id="8" name="Date Placeholder 2">
            <a:extLst>
              <a:ext uri="{FF2B5EF4-FFF2-40B4-BE49-F238E27FC236}">
                <a16:creationId xmlns:a16="http://schemas.microsoft.com/office/drawing/2014/main" id="{C995BB38-0BAE-4458-8957-49FA7BE177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13006" y="6350725"/>
            <a:ext cx="1600200" cy="3778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3C380"/>
                </a:solidFill>
              </a:defRPr>
            </a:lvl1pPr>
          </a:lstStyle>
          <a:p>
            <a:fld id="{8C5A6663-5241-43B8-A2F8-60C014A26D93}" type="datetime1">
              <a:rPr lang="en-US" smtClean="0"/>
              <a:t>12-Nov-24</a:t>
            </a:fld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14255AF7-F0E3-402E-91A9-3C7F89AF4D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1555" y="6350725"/>
            <a:ext cx="8637043" cy="3778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3C380"/>
                </a:solidFill>
              </a:defRPr>
            </a:lvl1pPr>
          </a:lstStyle>
          <a:p>
            <a:r>
              <a:rPr lang="en-US"/>
              <a:t>Test</a:t>
            </a:r>
            <a:endParaRPr lang="en-US" dirty="0"/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20BDCD17-7EA4-45DF-AF71-3D13B2B1F5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27614" y="6350725"/>
            <a:ext cx="551167" cy="3778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3C380"/>
                </a:solidFill>
              </a:defRPr>
            </a:lvl1pPr>
          </a:lstStyle>
          <a:p>
            <a:fld id="{32FAB481-7C2D-4A00-93C0-15E86CFC7E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7653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 baseline="0">
          <a:ln w="3175" cmpd="sng">
            <a:noFill/>
          </a:ln>
          <a:solidFill>
            <a:srgbClr val="F3C380"/>
          </a:solidFill>
          <a:effectLst/>
          <a:latin typeface="Bauhaus 93" panose="04030905020B02020C02" pitchFamily="82" charset="0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rgbClr val="F3C380"/>
        </a:buClr>
        <a:buSzPct val="100000"/>
        <a:buFont typeface="Arial"/>
        <a:buChar char="•"/>
        <a:defRPr sz="3600" kern="1200" cap="none">
          <a:solidFill>
            <a:srgbClr val="F3C380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rgbClr val="F3C380"/>
        </a:buClr>
        <a:buSzPct val="100000"/>
        <a:buFont typeface="Arial"/>
        <a:buChar char="•"/>
        <a:defRPr sz="3200" kern="1200" cap="none">
          <a:solidFill>
            <a:srgbClr val="F3C380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rgbClr val="F3C380"/>
        </a:buClr>
        <a:buSzPct val="100000"/>
        <a:buFont typeface="Arial"/>
        <a:buChar char="•"/>
        <a:defRPr sz="2800" kern="1200" cap="none">
          <a:solidFill>
            <a:srgbClr val="F3C380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rgbClr val="F3C380"/>
        </a:buClr>
        <a:buSzPct val="100000"/>
        <a:buFont typeface="Arial"/>
        <a:buChar char="•"/>
        <a:defRPr sz="2400" kern="1200" cap="none">
          <a:solidFill>
            <a:srgbClr val="F3C380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rgbClr val="F3C380"/>
        </a:buClr>
        <a:buSzPct val="100000"/>
        <a:buFont typeface="Arial"/>
        <a:buChar char="•"/>
        <a:defRPr sz="2400" kern="1200" cap="none">
          <a:solidFill>
            <a:srgbClr val="F3C380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oracle.com/technetwork/topics/dotnet/whatsnew/index.html" TargetMode="External"/><Relationship Id="rId1" Type="http://schemas.openxmlformats.org/officeDocument/2006/relationships/slideLayout" Target="../slideLayouts/slideLayout6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onnectionstrings.com/" TargetMode="External"/><Relationship Id="rId1" Type="http://schemas.openxmlformats.org/officeDocument/2006/relationships/slideLayout" Target="../slideLayouts/slideLayout6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0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ADO.NET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677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r>
              <a:rPr lang="en-US" dirty="0"/>
              <a:t>Database Connections</a:t>
            </a:r>
          </a:p>
          <a:p>
            <a:r>
              <a:rPr lang="en-US" dirty="0"/>
              <a:t>Database Commands</a:t>
            </a:r>
          </a:p>
          <a:p>
            <a:r>
              <a:rPr lang="en-US" dirty="0"/>
              <a:t>Data Reader</a:t>
            </a:r>
          </a:p>
        </p:txBody>
      </p:sp>
    </p:spTree>
    <p:extLst>
      <p:ext uri="{BB962C8B-B14F-4D97-AF65-F5344CB8AC3E}">
        <p14:creationId xmlns:p14="http://schemas.microsoft.com/office/powerpoint/2010/main" val="1146768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ADO.NET Overview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ADO.NET Technology</a:t>
            </a:r>
          </a:p>
        </p:txBody>
      </p:sp>
    </p:spTree>
    <p:extLst>
      <p:ext uri="{BB962C8B-B14F-4D97-AF65-F5344CB8AC3E}">
        <p14:creationId xmlns:p14="http://schemas.microsoft.com/office/powerpoint/2010/main" val="4124982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ADO.NET Overview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ActiveX Data Objects (ADO)</a:t>
            </a:r>
          </a:p>
          <a:p>
            <a:r>
              <a:rPr lang="en-US" dirty="0"/>
              <a:t>Library of COM components</a:t>
            </a:r>
          </a:p>
          <a:p>
            <a:r>
              <a:rPr lang="en-US" dirty="0"/>
              <a:t>Primarily consists of the following base classes:</a:t>
            </a:r>
          </a:p>
          <a:p>
            <a:pPr lvl="1"/>
            <a:r>
              <a:rPr lang="en-US" dirty="0"/>
              <a:t>Connection</a:t>
            </a:r>
          </a:p>
          <a:p>
            <a:pPr lvl="1"/>
            <a:r>
              <a:rPr lang="en-US" dirty="0"/>
              <a:t>Command</a:t>
            </a:r>
          </a:p>
          <a:p>
            <a:pPr lvl="1"/>
            <a:r>
              <a:rPr lang="en-US" dirty="0" err="1"/>
              <a:t>RecordSet</a:t>
            </a:r>
            <a:endParaRPr lang="en-US" dirty="0"/>
          </a:p>
          <a:p>
            <a:pPr lvl="1"/>
            <a:r>
              <a:rPr lang="en-US" dirty="0"/>
              <a:t>Field</a:t>
            </a:r>
          </a:p>
        </p:txBody>
      </p:sp>
    </p:spTree>
    <p:extLst>
      <p:ext uri="{BB962C8B-B14F-4D97-AF65-F5344CB8AC3E}">
        <p14:creationId xmlns:p14="http://schemas.microsoft.com/office/powerpoint/2010/main" val="2912096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Supported Database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SQL Server</a:t>
            </a:r>
          </a:p>
          <a:p>
            <a:r>
              <a:rPr lang="en-US" dirty="0"/>
              <a:t>Open Database Connectivity (ODBC)</a:t>
            </a:r>
          </a:p>
          <a:p>
            <a:r>
              <a:rPr lang="en-US" dirty="0"/>
              <a:t>OLE DB</a:t>
            </a:r>
          </a:p>
          <a:p>
            <a:r>
              <a:rPr lang="en-US" dirty="0"/>
              <a:t>ORACLE through their .NET provider at: </a:t>
            </a:r>
            <a:r>
              <a:rPr lang="en-US" dirty="0">
                <a:hlinkClick r:id="rId2"/>
              </a:rPr>
              <a:t>http://www.oracle.com/technetwork/topics/dotnet/whatsnew/index.html</a:t>
            </a:r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5978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Namespaces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019062"/>
              </p:ext>
            </p:extLst>
          </p:nvPr>
        </p:nvGraphicFramePr>
        <p:xfrm>
          <a:off x="1541720" y="2091992"/>
          <a:ext cx="10040679" cy="394223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171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235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613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NAMESPACE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BRIEF DESCRIPTION 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13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System.Data 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All generic data access classes 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13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System.Data.Common 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Classes shared (or overridden) by individual data providers 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613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System.Data.EntityClient 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Entity Framework classes 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613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System.Data.Linq.SqlClient 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LINQ to SQL provider classes 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613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System.Data.Odbc 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ODBC provider classes 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613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System.Data.OleDb 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OLE DB provider classes 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613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System.Data.ProviderBase 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New base classes and connection factory classes 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613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System.Data.Sql 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New generic interfaces and classes for SQL Server data access 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613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System.Data.SqlClient 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SQL Server provider classes 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613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System.Data.SqlTypes 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SQL Server data types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9333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Shared Classes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0763204"/>
              </p:ext>
            </p:extLst>
          </p:nvPr>
        </p:nvGraphicFramePr>
        <p:xfrm>
          <a:off x="1807534" y="2091992"/>
          <a:ext cx="9893035" cy="428530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40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52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815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CLASS 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DESCRIPTION 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630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DataSet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This object is designed for disconnected use and can contain a set of DataTables and relationships between these tables. 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630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DataTable 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A container of data that consists of one or more </a:t>
                      </a:r>
                      <a:r>
                        <a:rPr lang="en-US" sz="1800" dirty="0" err="1">
                          <a:effectLst/>
                        </a:rPr>
                        <a:t>DataColumns</a:t>
                      </a:r>
                      <a:r>
                        <a:rPr lang="en-US" sz="1800" dirty="0">
                          <a:effectLst/>
                        </a:rPr>
                        <a:t> and, when populated, will have one or more DataRows containing data. 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125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DataRow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A number of values, akin to a row from a database table or a row from a spreadsheet. 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15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DataColumn 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This object contains the definition of a column, such as the name and data type. 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630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DataRelation 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A link between two DataTable classes within a DataSet class; used for foreign key and master/detail relationships. 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630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Constraint 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This class defines a rule for a DataColumn class (or set of data columns), such as unique values. 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125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DataColumnMapping 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Maps the name of a column from the database to the name of a column within a DataTable. 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815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DataTableMapping 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Maps a table name from the database to a </a:t>
                      </a:r>
                      <a:r>
                        <a:rPr lang="en-US" sz="1800" dirty="0" err="1">
                          <a:effectLst/>
                        </a:rPr>
                        <a:t>DataTable</a:t>
                      </a:r>
                      <a:r>
                        <a:rPr lang="en-US" sz="1800" dirty="0">
                          <a:effectLst/>
                        </a:rPr>
                        <a:t> within a </a:t>
                      </a:r>
                      <a:r>
                        <a:rPr lang="en-US" sz="1800" dirty="0" err="1">
                          <a:effectLst/>
                        </a:rPr>
                        <a:t>DataSet</a:t>
                      </a:r>
                      <a:r>
                        <a:rPr lang="en-US" sz="1800" dirty="0">
                          <a:effectLst/>
                        </a:rPr>
                        <a:t>.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40588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Database-Specific Classes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8956957"/>
              </p:ext>
            </p:extLst>
          </p:nvPr>
        </p:nvGraphicFramePr>
        <p:xfrm>
          <a:off x="1988287" y="1782122"/>
          <a:ext cx="9594111" cy="44678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3012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92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358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CLASSES 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DESCRIPTION 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712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SqlCommand, OleDbCommand, and ODBCCommand 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Used as wrappers for SQL statements or stored procedure calls. Examples for the SqlCommand class are shown later in the chapter. 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067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SqlCommandBuilder</a:t>
                      </a:r>
                      <a:r>
                        <a:rPr lang="en-US" sz="1600" dirty="0">
                          <a:effectLst/>
                        </a:rPr>
                        <a:t>, </a:t>
                      </a:r>
                      <a:r>
                        <a:rPr lang="en-US" sz="1600" dirty="0" err="1">
                          <a:effectLst/>
                        </a:rPr>
                        <a:t>OleDbCommandBuilder</a:t>
                      </a:r>
                      <a:r>
                        <a:rPr lang="en-US" sz="1600" dirty="0">
                          <a:effectLst/>
                        </a:rPr>
                        <a:t>, and </a:t>
                      </a:r>
                      <a:r>
                        <a:rPr lang="en-US" sz="1600" dirty="0" err="1">
                          <a:effectLst/>
                        </a:rPr>
                        <a:t>ODBCCommandBuilder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Used to generate SQL commands (such as INSERT, UPDATE, and DELETE statements) from a SELECT statement. 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60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SqlConnection, OleDbConnection, and ODBCConnection 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Used to connect to the database, this is similar to an ADO connection. Examples are shown later in the chapter. 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974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SqlDataAdapter</a:t>
                      </a:r>
                      <a:r>
                        <a:rPr lang="en-US" sz="1600" dirty="0">
                          <a:effectLst/>
                        </a:rPr>
                        <a:t>, </a:t>
                      </a:r>
                      <a:r>
                        <a:rPr lang="en-US" sz="1600" dirty="0" err="1">
                          <a:effectLst/>
                        </a:rPr>
                        <a:t>OleDbDataAdapter</a:t>
                      </a:r>
                      <a:r>
                        <a:rPr lang="en-US" sz="1600" dirty="0">
                          <a:effectLst/>
                        </a:rPr>
                        <a:t>, and </a:t>
                      </a:r>
                      <a:r>
                        <a:rPr lang="en-US" sz="1600" dirty="0" err="1">
                          <a:effectLst/>
                        </a:rPr>
                        <a:t>ODBCDataAdapter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Used to hold select, insert, update, and delete commands, which are then used to populate a </a:t>
                      </a:r>
                      <a:r>
                        <a:rPr lang="en-US" sz="1600" dirty="0" err="1">
                          <a:effectLst/>
                        </a:rPr>
                        <a:t>DataSet</a:t>
                      </a:r>
                      <a:r>
                        <a:rPr lang="en-US" sz="1600" dirty="0">
                          <a:effectLst/>
                        </a:rPr>
                        <a:t> and update the database. Examples of the </a:t>
                      </a:r>
                      <a:r>
                        <a:rPr lang="en-US" sz="1600" dirty="0" err="1">
                          <a:effectLst/>
                        </a:rPr>
                        <a:t>SqlDataAdapter</a:t>
                      </a:r>
                      <a:r>
                        <a:rPr lang="en-US" sz="1600" dirty="0">
                          <a:effectLst/>
                        </a:rPr>
                        <a:t> are presented in this chapter. 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60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SqlDataReader, OleDbDataReader, and ODBCDataReader 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Used as a forward-only connected data reader. Some examples of the SqlDataReader are shown in this chapter. 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536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SqlParameter, OleDbParameter, and ODBCParameter 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Used to define a parameter to a stored procedure. Examples of how to use the SqlParameter class are shown in this chapter. 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712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SqlTransaction, OleDbTransaction, and ODBCTransaction 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Used for a database transaction, wrapped in an object.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80258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connections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how to open and use database connections.</a:t>
            </a:r>
          </a:p>
        </p:txBody>
      </p:sp>
    </p:spTree>
    <p:extLst>
      <p:ext uri="{BB962C8B-B14F-4D97-AF65-F5344CB8AC3E}">
        <p14:creationId xmlns:p14="http://schemas.microsoft.com/office/powerpoint/2010/main" val="15384774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C634BB2-D0D6-4C82-B251-395E5F019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Database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9FBEAC3-FBED-473B-8470-DEABE5E7A3D6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18195" y="2168525"/>
            <a:ext cx="7190560" cy="4054475"/>
          </a:xfrm>
          <a:prstGeom prst="rect">
            <a:avLst/>
          </a:prstGeom>
        </p:spPr>
      </p:pic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FF2FB923-FE86-49CA-9E8F-F00BD67DDC3A}"/>
              </a:ext>
            </a:extLst>
          </p:cNvPr>
          <p:cNvSpPr/>
          <p:nvPr/>
        </p:nvSpPr>
        <p:spPr>
          <a:xfrm>
            <a:off x="6213068" y="735966"/>
            <a:ext cx="2431473" cy="955964"/>
          </a:xfrm>
          <a:prstGeom prst="wedgeRoundRectCallout">
            <a:avLst>
              <a:gd name="adj1" fmla="val -120406"/>
              <a:gd name="adj2" fmla="val 10815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You can add a database using add new item.</a:t>
            </a:r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93069C2D-33C1-4C82-8E80-2ACA794A9567}"/>
              </a:ext>
            </a:extLst>
          </p:cNvPr>
          <p:cNvSpPr/>
          <p:nvPr/>
        </p:nvSpPr>
        <p:spPr>
          <a:xfrm>
            <a:off x="8001000" y="4688088"/>
            <a:ext cx="2431473" cy="955964"/>
          </a:xfrm>
          <a:prstGeom prst="wedgeRoundRectCallout">
            <a:avLst>
              <a:gd name="adj1" fmla="val -91346"/>
              <a:gd name="adj2" fmla="val -7771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Service-based Database = SQL Server Database.</a:t>
            </a:r>
          </a:p>
        </p:txBody>
      </p:sp>
    </p:spTree>
    <p:extLst>
      <p:ext uri="{BB962C8B-B14F-4D97-AF65-F5344CB8AC3E}">
        <p14:creationId xmlns:p14="http://schemas.microsoft.com/office/powerpoint/2010/main" val="20697539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E7CC4-0E20-40DD-9818-A4F03AC02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Studio provides a database management tool.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C9CCEE5-73AF-4120-B6AC-4D2C8B76BE5D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34541" y="2091992"/>
            <a:ext cx="6722918" cy="4303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0659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385B8-92E8-4AA0-BEBA-7C9C61159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is my database?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83226F9-BE38-46F6-ADD3-A91911FA40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86444" y="2168525"/>
            <a:ext cx="6454062" cy="405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2216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Connections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600" y="1600199"/>
            <a:ext cx="10972800" cy="129048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You need a connection string to connect to a database.</a:t>
            </a:r>
          </a:p>
          <a:p>
            <a:r>
              <a:rPr lang="en-US" dirty="0"/>
              <a:t>The following classes are used to create a connection: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8450" y="2973094"/>
            <a:ext cx="6515100" cy="296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2026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Connection Syntax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/>
              <a:t>Workflow:</a:t>
            </a:r>
          </a:p>
          <a:p>
            <a:r>
              <a:rPr lang="en-US" sz="2400" dirty="0"/>
              <a:t>Use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System.Data.SqlClient</a:t>
            </a:r>
            <a:r>
              <a:rPr lang="en-US" sz="2400" dirty="0"/>
              <a:t> namespace</a:t>
            </a:r>
          </a:p>
          <a:p>
            <a:r>
              <a:rPr lang="en-US" sz="2400" dirty="0"/>
              <a:t>Build a string with information you need for connection string</a:t>
            </a:r>
          </a:p>
          <a:p>
            <a:r>
              <a:rPr lang="en-US" sz="2400" dirty="0"/>
              <a:t>Instantiate an </a:t>
            </a:r>
            <a:r>
              <a:rPr lang="en-US" sz="2400" dirty="0" err="1"/>
              <a:t>SqlConnection</a:t>
            </a:r>
            <a:endParaRPr lang="en-US" sz="2400" dirty="0"/>
          </a:p>
          <a:p>
            <a:r>
              <a:rPr lang="en-US" sz="2400" dirty="0"/>
              <a:t>Open the connection</a:t>
            </a:r>
          </a:p>
          <a:p>
            <a:r>
              <a:rPr lang="en-US" sz="2400" dirty="0"/>
              <a:t>Work with database</a:t>
            </a:r>
          </a:p>
          <a:p>
            <a:r>
              <a:rPr lang="en-US" sz="2400" dirty="0"/>
              <a:t>Close connection</a:t>
            </a:r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7" name="Rectangle 6"/>
          <p:cNvSpPr/>
          <p:nvPr/>
        </p:nvSpPr>
        <p:spPr>
          <a:xfrm>
            <a:off x="6096000" y="1600200"/>
            <a:ext cx="5608319" cy="4524315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System.Data.SqlClient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sz="1600" dirty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sz="1600" dirty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source = 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"server =(local);"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+ </a:t>
            </a: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"integrated security = SSPI;"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+ </a:t>
            </a: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"database = </a:t>
            </a:r>
            <a:r>
              <a:rPr lang="en-US" sz="16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Northwind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</a:p>
          <a:p>
            <a:r>
              <a:rPr lang="en-US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SqlConnection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conn =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SqlConnection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(source); </a:t>
            </a:r>
          </a:p>
          <a:p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conn.Open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 </a:t>
            </a: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</a:p>
          <a:p>
            <a:r>
              <a:rPr lang="en-US" sz="1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Do something useful 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</a:p>
          <a:p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conn.Close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sz="1600" dirty="0"/>
          </a:p>
        </p:txBody>
      </p:sp>
      <p:sp>
        <p:nvSpPr>
          <p:cNvPr id="9" name="Rectangle 8"/>
          <p:cNvSpPr/>
          <p:nvPr/>
        </p:nvSpPr>
        <p:spPr>
          <a:xfrm>
            <a:off x="6096000" y="1600200"/>
            <a:ext cx="3254477" cy="336755"/>
          </a:xfrm>
          <a:prstGeom prst="rect">
            <a:avLst/>
          </a:prstGeom>
          <a:solidFill>
            <a:srgbClr val="FFFF00">
              <a:alpha val="30196"/>
            </a:srgb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>
            <a:normAutofit fontScale="62500" lnSpcReduction="20000"/>
          </a:bodyPr>
          <a:lstStyle/>
          <a:p>
            <a:pPr algn="ctr"/>
            <a:endParaRPr lang="en-US" sz="2800" dirty="0"/>
          </a:p>
        </p:txBody>
      </p:sp>
      <p:sp>
        <p:nvSpPr>
          <p:cNvPr id="10" name="Rectangle 9"/>
          <p:cNvSpPr/>
          <p:nvPr/>
        </p:nvSpPr>
        <p:spPr>
          <a:xfrm>
            <a:off x="6095999" y="2106066"/>
            <a:ext cx="5486401" cy="792254"/>
          </a:xfrm>
          <a:prstGeom prst="rect">
            <a:avLst/>
          </a:prstGeom>
          <a:solidFill>
            <a:srgbClr val="FFFF00">
              <a:alpha val="30196"/>
            </a:srgb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US" sz="2800" dirty="0"/>
          </a:p>
        </p:txBody>
      </p:sp>
      <p:sp>
        <p:nvSpPr>
          <p:cNvPr id="11" name="Rectangle 10"/>
          <p:cNvSpPr/>
          <p:nvPr/>
        </p:nvSpPr>
        <p:spPr>
          <a:xfrm>
            <a:off x="6095999" y="3009983"/>
            <a:ext cx="5486401" cy="372721"/>
          </a:xfrm>
          <a:prstGeom prst="rect">
            <a:avLst/>
          </a:prstGeom>
          <a:solidFill>
            <a:srgbClr val="FFFF00">
              <a:alpha val="30196"/>
            </a:srgb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endParaRPr lang="en-US" sz="2800" dirty="0"/>
          </a:p>
        </p:txBody>
      </p:sp>
      <p:sp>
        <p:nvSpPr>
          <p:cNvPr id="12" name="Rectangle 11"/>
          <p:cNvSpPr/>
          <p:nvPr/>
        </p:nvSpPr>
        <p:spPr>
          <a:xfrm>
            <a:off x="6095999" y="3505108"/>
            <a:ext cx="1507959" cy="372721"/>
          </a:xfrm>
          <a:prstGeom prst="rect">
            <a:avLst/>
          </a:prstGeom>
          <a:solidFill>
            <a:srgbClr val="FFFF00">
              <a:alpha val="30196"/>
            </a:srgb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endParaRPr lang="en-US" sz="2800" dirty="0"/>
          </a:p>
        </p:txBody>
      </p:sp>
      <p:sp>
        <p:nvSpPr>
          <p:cNvPr id="13" name="Rectangle 12"/>
          <p:cNvSpPr/>
          <p:nvPr/>
        </p:nvSpPr>
        <p:spPr>
          <a:xfrm>
            <a:off x="6095998" y="4012898"/>
            <a:ext cx="2638927" cy="372721"/>
          </a:xfrm>
          <a:prstGeom prst="rect">
            <a:avLst/>
          </a:prstGeom>
          <a:solidFill>
            <a:srgbClr val="FFFF00">
              <a:alpha val="30196"/>
            </a:srgb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endParaRPr lang="en-US" sz="2800" dirty="0"/>
          </a:p>
        </p:txBody>
      </p:sp>
      <p:sp>
        <p:nvSpPr>
          <p:cNvPr id="14" name="Rectangle 13"/>
          <p:cNvSpPr/>
          <p:nvPr/>
        </p:nvSpPr>
        <p:spPr>
          <a:xfrm>
            <a:off x="6095998" y="4476900"/>
            <a:ext cx="1592181" cy="372721"/>
          </a:xfrm>
          <a:prstGeom prst="rect">
            <a:avLst/>
          </a:prstGeom>
          <a:solidFill>
            <a:srgbClr val="FFFF00">
              <a:alpha val="30196"/>
            </a:srgb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>
            <a:normAutofit fontScale="77500" lnSpcReduction="20000"/>
          </a:bodyPr>
          <a:lstStyle/>
          <a:p>
            <a:pPr algn="ctr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172229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Connection String Format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538344" y="2796988"/>
            <a:ext cx="10044056" cy="329569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Denotes the database server to connect to. </a:t>
            </a:r>
          </a:p>
          <a:p>
            <a:r>
              <a:rPr lang="en-US" dirty="0"/>
              <a:t>SQL Server permits a number of separate database server instances to be running on the same machine. </a:t>
            </a:r>
          </a:p>
          <a:p>
            <a:r>
              <a:rPr lang="en-US" dirty="0"/>
              <a:t>Here, you are connecting to the default SQL Server instance. </a:t>
            </a:r>
          </a:p>
          <a:p>
            <a:r>
              <a:rPr lang="en-US" dirty="0"/>
              <a:t>If you are using SQL Express, change the server part to server =./ </a:t>
            </a:r>
            <a:r>
              <a:rPr lang="en-US" dirty="0" err="1"/>
              <a:t>sqlexpress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3877959" y="1799604"/>
            <a:ext cx="4253087" cy="584775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"server =(local);"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4024876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Connection String Format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9858" y="2775472"/>
            <a:ext cx="10022541" cy="3317213"/>
          </a:xfrm>
        </p:spPr>
        <p:txBody>
          <a:bodyPr>
            <a:normAutofit/>
          </a:bodyPr>
          <a:lstStyle/>
          <a:p>
            <a:r>
              <a:rPr lang="en-US" dirty="0"/>
              <a:t>This uses Windows Authentication to connect to the database, which is highly recommended over using a username and password within the source code. </a:t>
            </a:r>
          </a:p>
        </p:txBody>
      </p:sp>
      <p:sp>
        <p:nvSpPr>
          <p:cNvPr id="4" name="Rectangle 3"/>
          <p:cNvSpPr/>
          <p:nvPr/>
        </p:nvSpPr>
        <p:spPr>
          <a:xfrm>
            <a:off x="3139740" y="1600199"/>
            <a:ext cx="5912519" cy="52322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"integrated security = SSPI;"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22313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Connection String Format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0974" y="2646381"/>
            <a:ext cx="10131426" cy="3446305"/>
          </a:xfrm>
        </p:spPr>
        <p:txBody>
          <a:bodyPr/>
          <a:lstStyle/>
          <a:p>
            <a:r>
              <a:rPr lang="en-US" dirty="0"/>
              <a:t>This describes the database instance to connect to</a:t>
            </a:r>
          </a:p>
          <a:p>
            <a:r>
              <a:rPr lang="en-US" dirty="0"/>
              <a:t>Each SQL Server process can expose several database instances.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336758" y="1600199"/>
            <a:ext cx="551848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"database = </a:t>
            </a:r>
            <a:r>
              <a:rPr lang="en-US" sz="32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Northwind</a:t>
            </a:r>
            <a:r>
              <a:rPr lang="en-US" sz="3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</a:p>
        </p:txBody>
      </p:sp>
      <p:sp>
        <p:nvSpPr>
          <p:cNvPr id="5" name="Rectangle 4"/>
          <p:cNvSpPr/>
          <p:nvPr/>
        </p:nvSpPr>
        <p:spPr>
          <a:xfrm>
            <a:off x="1345430" y="5861853"/>
            <a:ext cx="10555390" cy="46166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Segoe UI" panose="020B0502040204020203" pitchFamily="34" charset="0"/>
              </a:rPr>
              <a:t>Learn more about connection strings at: </a:t>
            </a:r>
            <a:r>
              <a:rPr lang="en-US" sz="2400" dirty="0">
                <a:solidFill>
                  <a:srgbClr val="000000"/>
                </a:solidFill>
                <a:latin typeface="Segoe UI" panose="020B0502040204020203" pitchFamily="34" charset="0"/>
                <a:hlinkClick r:id="rId2"/>
              </a:rPr>
              <a:t>http://www.connectionstrings.com/</a:t>
            </a:r>
            <a:r>
              <a:rPr lang="en-US" sz="24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842277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Managing Connection Strings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Hard coding connection strings each time you use the is generally a bad idea</a:t>
            </a:r>
          </a:p>
          <a:p>
            <a:r>
              <a:rPr lang="en-US" dirty="0"/>
              <a:t>What happens if you need to change it?</a:t>
            </a:r>
          </a:p>
          <a:p>
            <a:r>
              <a:rPr lang="en-US" dirty="0"/>
              <a:t>You would have to change it everywhere!</a:t>
            </a:r>
          </a:p>
        </p:txBody>
      </p:sp>
    </p:spTree>
    <p:extLst>
      <p:ext uri="{BB962C8B-B14F-4D97-AF65-F5344CB8AC3E}">
        <p14:creationId xmlns:p14="http://schemas.microsoft.com/office/powerpoint/2010/main" val="30187158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Configuration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0446" y="1600199"/>
            <a:ext cx="10131427" cy="174516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C# applications normally have an XML configuration file called </a:t>
            </a:r>
            <a:r>
              <a:rPr lang="en-US" dirty="0" err="1"/>
              <a:t>app.config</a:t>
            </a:r>
            <a:r>
              <a:rPr lang="en-US" dirty="0"/>
              <a:t> or </a:t>
            </a:r>
            <a:r>
              <a:rPr lang="en-US" dirty="0" err="1"/>
              <a:t>web.config</a:t>
            </a:r>
            <a:r>
              <a:rPr lang="en-US" dirty="0"/>
              <a:t>.</a:t>
            </a:r>
          </a:p>
          <a:p>
            <a:r>
              <a:rPr lang="en-US" dirty="0"/>
              <a:t>You can save your connection strings in this format: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19050" y="3611847"/>
            <a:ext cx="11388036" cy="2308324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configuration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…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&lt;</a:t>
            </a:r>
            <a:r>
              <a:rPr lang="en-US" sz="16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connectionStrings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 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&lt;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add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Northwind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600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providerName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System.Data.SqlClient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600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connectionString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server =( local); integrated security = SSPI; database = </a:t>
            </a:r>
            <a:r>
              <a:rPr lang="en-US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Northwind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/&gt; 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&lt;/</a:t>
            </a:r>
            <a:r>
              <a:rPr lang="en-US" sz="16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connectionStrings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&gt;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configuration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8296648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Accessing Configuration File</a:t>
            </a:r>
            <a:br>
              <a:rPr lang="en-US" dirty="0"/>
            </a:br>
            <a:r>
              <a:rPr lang="en-US" dirty="0"/>
              <a:t>From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0974" y="1968648"/>
            <a:ext cx="10131426" cy="1341801"/>
          </a:xfrm>
        </p:spPr>
        <p:txBody>
          <a:bodyPr>
            <a:normAutofit fontScale="47500" lnSpcReduction="20000"/>
          </a:bodyPr>
          <a:lstStyle/>
          <a:p>
            <a:r>
              <a:rPr lang="en-US" dirty="0" err="1"/>
              <a:t>ConfigurationManager</a:t>
            </a:r>
            <a:r>
              <a:rPr lang="en-US" dirty="0"/>
              <a:t> class provides access to items in the configuration file. </a:t>
            </a:r>
          </a:p>
          <a:p>
            <a:r>
              <a:rPr lang="en-US" dirty="0"/>
              <a:t>XML tags in the </a:t>
            </a:r>
            <a:r>
              <a:rPr lang="en-US" dirty="0" err="1"/>
              <a:t>config</a:t>
            </a:r>
            <a:r>
              <a:rPr lang="en-US" dirty="0"/>
              <a:t> file become properties in the </a:t>
            </a:r>
            <a:r>
              <a:rPr lang="en-US" dirty="0" err="1"/>
              <a:t>ConfiguraitionManager</a:t>
            </a:r>
            <a:r>
              <a:rPr lang="en-US" dirty="0"/>
              <a:t> class.</a:t>
            </a:r>
          </a:p>
          <a:p>
            <a:r>
              <a:rPr lang="en-US" dirty="0" err="1"/>
              <a:t>DbProvider</a:t>
            </a:r>
            <a:r>
              <a:rPr lang="en-US" dirty="0"/>
              <a:t> class automates process of picking correct connection type.</a:t>
            </a:r>
          </a:p>
          <a:p>
            <a:r>
              <a:rPr lang="en-US" dirty="0"/>
              <a:t>If you know database type you can omit this and just open the right type of connection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4424937"/>
            <a:ext cx="10972799" cy="1815882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private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DbConnection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GetDatabaseConnection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name ) </a:t>
            </a: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ConnectionStringSettings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settings = </a:t>
            </a:r>
            <a:r>
              <a:rPr lang="en-US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ConfigurationManager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.ConnectionStrings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[name]; </a:t>
            </a: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DbProviderFactory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factory = </a:t>
            </a:r>
            <a:r>
              <a:rPr lang="en-US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DbProviderFactories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.GetFactory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settings.ProviderName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 </a:t>
            </a: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DbConnection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conn =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factory.CreateConnection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 </a:t>
            </a: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conn.ConnectionString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settings.ConnectionString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conn; </a:t>
            </a: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US" sz="1600" dirty="0"/>
          </a:p>
        </p:txBody>
      </p:sp>
      <p:sp>
        <p:nvSpPr>
          <p:cNvPr id="5" name="Rectangle 4"/>
          <p:cNvSpPr/>
          <p:nvPr/>
        </p:nvSpPr>
        <p:spPr>
          <a:xfrm>
            <a:off x="609600" y="3452195"/>
            <a:ext cx="10972799" cy="830997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System.Configuration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System.Data.SqlClient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sz="1600" dirty="0"/>
          </a:p>
          <a:p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System.Data.Common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sz="1600" dirty="0"/>
          </a:p>
        </p:txBody>
      </p:sp>
      <p:sp>
        <p:nvSpPr>
          <p:cNvPr id="6" name="Rectangle 5"/>
          <p:cNvSpPr/>
          <p:nvPr/>
        </p:nvSpPr>
        <p:spPr>
          <a:xfrm>
            <a:off x="7460247" y="4927600"/>
            <a:ext cx="2706103" cy="272242"/>
          </a:xfrm>
          <a:prstGeom prst="rect">
            <a:avLst/>
          </a:prstGeom>
          <a:solidFill>
            <a:srgbClr val="FFFF00">
              <a:alpha val="30196"/>
            </a:srgb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>
            <a:normAutofit fontScale="47500" lnSpcReduction="20000"/>
          </a:bodyPr>
          <a:lstStyle/>
          <a:p>
            <a:pPr algn="ctr"/>
            <a:endParaRPr lang="en-US" sz="2800" dirty="0"/>
          </a:p>
        </p:txBody>
      </p:sp>
      <p:sp>
        <p:nvSpPr>
          <p:cNvPr id="7" name="Rectangle 6"/>
          <p:cNvSpPr/>
          <p:nvPr/>
        </p:nvSpPr>
        <p:spPr>
          <a:xfrm>
            <a:off x="1139658" y="5199842"/>
            <a:ext cx="2827505" cy="272242"/>
          </a:xfrm>
          <a:prstGeom prst="rect">
            <a:avLst/>
          </a:prstGeom>
          <a:solidFill>
            <a:srgbClr val="FFFF00">
              <a:alpha val="30196"/>
            </a:srgb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>
            <a:normAutofit fontScale="47500" lnSpcReduction="20000"/>
          </a:bodyPr>
          <a:lstStyle/>
          <a:p>
            <a:pPr algn="ctr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949513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  <p:bldP spid="7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Connections Efficiently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Databases can have only a limited number of connections open at one time.</a:t>
            </a:r>
          </a:p>
          <a:p>
            <a:r>
              <a:rPr lang="en-US" dirty="0"/>
              <a:t>It is, therefore, important to keep connections open the minimum amount of time possible.</a:t>
            </a:r>
          </a:p>
        </p:txBody>
      </p:sp>
    </p:spTree>
    <p:extLst>
      <p:ext uri="{BB962C8B-B14F-4D97-AF65-F5344CB8AC3E}">
        <p14:creationId xmlns:p14="http://schemas.microsoft.com/office/powerpoint/2010/main" val="23522439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try… catch… finally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7355" y="1600199"/>
            <a:ext cx="4729338" cy="4492487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Use the catch block to catch any </a:t>
            </a:r>
            <a:r>
              <a:rPr lang="en-US" dirty="0" err="1"/>
              <a:t>SqlExceptions</a:t>
            </a:r>
            <a:endParaRPr lang="en-US" dirty="0"/>
          </a:p>
          <a:p>
            <a:r>
              <a:rPr lang="en-US" dirty="0" err="1"/>
              <a:t>SqlExceptions</a:t>
            </a:r>
            <a:r>
              <a:rPr lang="en-US" dirty="0"/>
              <a:t> can include:</a:t>
            </a:r>
          </a:p>
          <a:p>
            <a:pPr lvl="1"/>
            <a:r>
              <a:rPr lang="en-US" dirty="0"/>
              <a:t>Database not available</a:t>
            </a:r>
          </a:p>
          <a:p>
            <a:pPr lvl="1"/>
            <a:r>
              <a:rPr lang="en-US" dirty="0"/>
              <a:t>No available connections</a:t>
            </a:r>
          </a:p>
          <a:p>
            <a:pPr lvl="1"/>
            <a:r>
              <a:rPr lang="en-US" dirty="0"/>
              <a:t>Etc.</a:t>
            </a:r>
          </a:p>
          <a:p>
            <a:r>
              <a:rPr lang="en-US" dirty="0"/>
              <a:t>Placing </a:t>
            </a:r>
            <a:r>
              <a:rPr lang="en-US" dirty="0" err="1"/>
              <a:t>conn.Close</a:t>
            </a:r>
            <a:r>
              <a:rPr lang="en-US" dirty="0"/>
              <a:t>() in the finally block ensures the connection will be closed whether or not there is an exception.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0" y="1600199"/>
            <a:ext cx="5568176" cy="4524315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try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 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Open the connection 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conn.Open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 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Do something useful 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catch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 </a:t>
            </a:r>
            <a:r>
              <a:rPr lang="en-US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SqlException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ex ) 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Log the exception 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finally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Ensure that the connection is freed 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conn.Close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 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74033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directive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7354" y="1600199"/>
            <a:ext cx="3257377" cy="4492487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The using statement ensures that the object created in it will have it’s dispose method called if anything happens.</a:t>
            </a:r>
          </a:p>
          <a:p>
            <a:r>
              <a:rPr lang="en-US" dirty="0"/>
              <a:t>In the case of a connection, the connection objects dispose method will close the connection</a:t>
            </a:r>
          </a:p>
          <a:p>
            <a:r>
              <a:rPr lang="en-US" dirty="0"/>
              <a:t>Using is, therefore, another way to ensure a connection is closed!</a:t>
            </a:r>
          </a:p>
        </p:txBody>
      </p:sp>
      <p:sp>
        <p:nvSpPr>
          <p:cNvPr id="4" name="Rectangle 3"/>
          <p:cNvSpPr/>
          <p:nvPr/>
        </p:nvSpPr>
        <p:spPr>
          <a:xfrm>
            <a:off x="4600498" y="1568371"/>
            <a:ext cx="7112000" cy="4524315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source = 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"server =( local);"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+ 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"integrated security = SSPI;"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+ 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"database = </a:t>
            </a:r>
            <a:r>
              <a:rPr lang="en-US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Northwind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</a:p>
          <a:p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SqlConnection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conn =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SqlConnection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(source))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Open the connection 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conn.Open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 ); 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Do something useful 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24118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6372" y="1600199"/>
            <a:ext cx="2442379" cy="4492487"/>
          </a:xfrm>
        </p:spPr>
        <p:txBody>
          <a:bodyPr/>
          <a:lstStyle/>
          <a:p>
            <a:r>
              <a:rPr lang="en-US" dirty="0"/>
              <a:t>You can, and probably should, combine both methods</a:t>
            </a:r>
          </a:p>
        </p:txBody>
      </p:sp>
      <p:sp>
        <p:nvSpPr>
          <p:cNvPr id="4" name="Rectangle 3"/>
          <p:cNvSpPr/>
          <p:nvPr/>
        </p:nvSpPr>
        <p:spPr>
          <a:xfrm>
            <a:off x="3914078" y="1600199"/>
            <a:ext cx="8176322" cy="4524315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try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SqlConnection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conn =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SqlConnection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(source))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Open the connection 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conn.Open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Do something useful 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Close it myself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conn.Close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catch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SqlException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ex)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Log the exception 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throw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3769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Commands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how to use database commands.</a:t>
            </a:r>
          </a:p>
        </p:txBody>
      </p:sp>
    </p:spTree>
    <p:extLst>
      <p:ext uri="{BB962C8B-B14F-4D97-AF65-F5344CB8AC3E}">
        <p14:creationId xmlns:p14="http://schemas.microsoft.com/office/powerpoint/2010/main" val="6558103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147356" y="1925619"/>
            <a:ext cx="10131425" cy="103535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ADO.NET provides you the capability to send SQL commands to databases and retrieve results.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2614" y="2960974"/>
            <a:ext cx="7113925" cy="2594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3160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Command Syntax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307690" y="1818041"/>
            <a:ext cx="10274710" cy="240982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Use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SqlCommand</a:t>
            </a:r>
            <a:r>
              <a:rPr lang="en-US" dirty="0"/>
              <a:t> class to create a command by calling it’s constructor and passing in:</a:t>
            </a:r>
          </a:p>
          <a:p>
            <a:pPr lvl="1"/>
            <a:r>
              <a:rPr lang="en-US" dirty="0"/>
              <a:t>A string with the SQL command</a:t>
            </a:r>
          </a:p>
          <a:p>
            <a:pPr lvl="1"/>
            <a:r>
              <a:rPr lang="en-US" dirty="0"/>
              <a:t>An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SqlConnection</a:t>
            </a:r>
            <a:r>
              <a:rPr lang="en-US" dirty="0"/>
              <a:t> object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1307690" y="4517803"/>
            <a:ext cx="9576619" cy="1323439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select = </a:t>
            </a:r>
            <a:r>
              <a:rPr lang="en-US" sz="20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"SELECT </a:t>
            </a:r>
            <a:r>
              <a:rPr lang="en-US" sz="20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ContactName</a:t>
            </a:r>
            <a:r>
              <a:rPr lang="en-US" sz="20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20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CompanyName</a:t>
            </a:r>
            <a:r>
              <a:rPr lang="en-US" sz="20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FROM Customers"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</a:p>
          <a:p>
            <a:r>
              <a:rPr lang="en-US" sz="20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SqlConnection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conn =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SqlConnection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(source); </a:t>
            </a:r>
          </a:p>
          <a:p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conn.Open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 </a:t>
            </a:r>
          </a:p>
          <a:p>
            <a:r>
              <a:rPr lang="en-US" sz="20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SqlCommand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cmd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SqlCommand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(select, conn);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631968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Commands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6437038"/>
              </p:ext>
            </p:extLst>
          </p:nvPr>
        </p:nvGraphicFramePr>
        <p:xfrm>
          <a:off x="1796526" y="1871831"/>
          <a:ext cx="9791027" cy="441533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643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266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0554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COMMANDTYPE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EXAMPLE 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843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Text (default) 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US" sz="2000" dirty="0">
                        <a:effectLst/>
                      </a:endParaRPr>
                    </a:p>
                    <a:p>
                      <a:endParaRPr lang="en-US" sz="2000" dirty="0">
                        <a:effectLst/>
                      </a:endParaRPr>
                    </a:p>
                    <a:p>
                      <a:endParaRPr lang="en-US" sz="2000" dirty="0">
                        <a:effectLst/>
                      </a:endParaRPr>
                    </a:p>
                    <a:p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572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StoredProcedure 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486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</a:rPr>
                        <a:t>TableDirect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3942736" y="2930376"/>
            <a:ext cx="7481886" cy="92333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/>
            <a:r>
              <a:rPr lang="en-US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select = 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"SELECT </a:t>
            </a:r>
            <a:r>
              <a:rPr lang="en-US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ContactName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FROM Customers"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lvl="0"/>
            <a:r>
              <a:rPr lang="en-US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SqlCommand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cmd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SqlCommand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(select, conn); </a:t>
            </a:r>
          </a:p>
          <a:p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cmd.Parameters.AddWithValue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"@</a:t>
            </a:r>
            <a:r>
              <a:rPr lang="en-US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CustomerID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"QUICK"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en-US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942735" y="4166482"/>
            <a:ext cx="7481886" cy="92333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SqlCommand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cmd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SqlCommand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CustOrderHist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conn);</a:t>
            </a:r>
          </a:p>
          <a:p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cmd.CommandType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CommandType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.StoredProcedure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cmd.Parameters.AddWithValue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"@</a:t>
            </a:r>
            <a:r>
              <a:rPr lang="en-US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CustomerID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"QUICK"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 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3942735" y="5437760"/>
            <a:ext cx="7557190" cy="64633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OleDbCommand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cmd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OleDbCommand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"Categories"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conn);</a:t>
            </a:r>
          </a:p>
          <a:p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cmd.CommandType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CommandType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.TableDirect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dirty="0"/>
          </a:p>
        </p:txBody>
      </p:sp>
      <p:sp>
        <p:nvSpPr>
          <p:cNvPr id="8" name="Rounded Rectangular Callout 7"/>
          <p:cNvSpPr/>
          <p:nvPr/>
        </p:nvSpPr>
        <p:spPr>
          <a:xfrm>
            <a:off x="9859415" y="5760926"/>
            <a:ext cx="1907458" cy="442451"/>
          </a:xfrm>
          <a:prstGeom prst="wedgeRoundRectCallout">
            <a:avLst>
              <a:gd name="adj1" fmla="val -77019"/>
              <a:gd name="adj2" fmla="val -37500"/>
              <a:gd name="adj3" fmla="val 16667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>
            <a:normAutofit fontScale="55000" lnSpcReduction="20000"/>
          </a:bodyPr>
          <a:lstStyle/>
          <a:p>
            <a:pPr algn="ctr"/>
            <a:r>
              <a:rPr lang="en-US" sz="2800" dirty="0"/>
              <a:t>Only valid for </a:t>
            </a:r>
            <a:r>
              <a:rPr lang="en-US" sz="2800" dirty="0" err="1"/>
              <a:t>OleDb</a:t>
            </a:r>
            <a:r>
              <a:rPr lang="en-US" sz="2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354885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If you need to add a parameter for a SQL statement it may be tempting to use string concatenation: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Don’t do it! This introduces opportunity for SQL Injection.</a:t>
            </a:r>
          </a:p>
          <a:p>
            <a:r>
              <a:rPr lang="en-US" dirty="0"/>
              <a:t>Use the </a:t>
            </a:r>
            <a:r>
              <a:rPr lang="en-US" dirty="0" err="1"/>
              <a:t>AddWithValue</a:t>
            </a:r>
            <a:r>
              <a:rPr lang="en-US" dirty="0"/>
              <a:t> method to add SQL Parameters to your command.</a:t>
            </a: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727587" y="5086209"/>
            <a:ext cx="10854813" cy="92333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/>
            <a:r>
              <a:rPr lang="en-US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select = 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"SELECT </a:t>
            </a:r>
            <a:r>
              <a:rPr lang="en-US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ContactName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FROM Customers WHERE </a:t>
            </a:r>
            <a:r>
              <a:rPr lang="en-US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CustomerID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@</a:t>
            </a:r>
            <a:r>
              <a:rPr lang="en-US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CustomerID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lvl="0"/>
            <a:r>
              <a:rPr lang="en-US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SqlCommand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cmd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SqlCommand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(select, conn); </a:t>
            </a:r>
          </a:p>
          <a:p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cmd.Parameters.AddWithValue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"@</a:t>
            </a:r>
            <a:r>
              <a:rPr lang="en-US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CustomerID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strCustID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endParaRPr lang="en-US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85661" y="3144082"/>
            <a:ext cx="10854813" cy="923330"/>
          </a:xfrm>
          <a:prstGeom prst="rect">
            <a:avLst/>
          </a:prstGeom>
          <a:solidFill>
            <a:schemeClr val="tx1">
              <a:lumMod val="95000"/>
              <a:alpha val="50196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/>
            <a:r>
              <a:rPr lang="en-US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strCustID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Console.Readline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  <a:endParaRPr lang="en-US" dirty="0">
              <a:solidFill>
                <a:srgbClr val="2B91A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lvl="0"/>
            <a:r>
              <a:rPr lang="en-US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select = 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"SELECT </a:t>
            </a:r>
            <a:r>
              <a:rPr lang="en-US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ContactName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FROM Customers WHERE </a:t>
            </a:r>
            <a:r>
              <a:rPr lang="en-US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CustomerID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" 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strCustID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lvl="0"/>
            <a:r>
              <a:rPr lang="en-US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SqlCommand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cmd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SqlCommand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(select, conn); </a:t>
            </a:r>
            <a:endParaRPr lang="en-US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Multiply 7"/>
          <p:cNvSpPr/>
          <p:nvPr/>
        </p:nvSpPr>
        <p:spPr>
          <a:xfrm>
            <a:off x="9547123" y="3021133"/>
            <a:ext cx="2251587" cy="644141"/>
          </a:xfrm>
          <a:prstGeom prst="mathMultiply">
            <a:avLst>
              <a:gd name="adj1" fmla="val 4875"/>
            </a:avLst>
          </a:prstGeom>
          <a:solidFill>
            <a:srgbClr val="FF0000">
              <a:alpha val="50196"/>
            </a:srgb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>
            <a:normAutofit fontScale="70000" lnSpcReduction="20000"/>
          </a:bodyPr>
          <a:lstStyle/>
          <a:p>
            <a:pPr algn="ctr"/>
            <a:endParaRPr lang="en-US" sz="2800" dirty="0"/>
          </a:p>
        </p:txBody>
      </p:sp>
      <p:sp>
        <p:nvSpPr>
          <p:cNvPr id="4" name="Curved Up Arrow 3"/>
          <p:cNvSpPr/>
          <p:nvPr/>
        </p:nvSpPr>
        <p:spPr>
          <a:xfrm flipH="1">
            <a:off x="5059681" y="5924920"/>
            <a:ext cx="1788488" cy="262028"/>
          </a:xfrm>
          <a:prstGeom prst="curvedUp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>
            <a:normAutofit fontScale="47500" lnSpcReduction="20000"/>
          </a:bodyPr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Up Arrow 6"/>
          <p:cNvSpPr/>
          <p:nvPr/>
        </p:nvSpPr>
        <p:spPr>
          <a:xfrm rot="5102432">
            <a:off x="7756060" y="3740751"/>
            <a:ext cx="87486" cy="3667773"/>
          </a:xfrm>
          <a:prstGeom prst="up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866451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4" grpId="0" animBg="1"/>
      <p:bldP spid="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Executing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ExecuteNonQuery</a:t>
            </a:r>
            <a:r>
              <a:rPr lang="en-US" dirty="0"/>
              <a:t> – Executes the command but does not return any output.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ExecuteReader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– Executes the command and returns a typed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IDataReader</a:t>
            </a:r>
            <a:endParaRPr lang="en-US" dirty="0"/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ExecuteScalar</a:t>
            </a:r>
            <a:r>
              <a:rPr lang="en-US" dirty="0"/>
              <a:t> – Executes the command and returns the value from the first column of the first row of any result set 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ExecuteXmlReader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– Executes the command and returns an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XmlReader</a:t>
            </a:r>
            <a:r>
              <a:rPr lang="en-US" dirty="0"/>
              <a:t> object, which can be used to traverse the XML fragment returned from the database 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80763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ExecuteNonQuery</a:t>
            </a:r>
            <a:r>
              <a:rPr lang="en-US" dirty="0"/>
              <a:t>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0520" y="1600199"/>
            <a:ext cx="9935738" cy="1165303"/>
          </a:xfrm>
        </p:spPr>
        <p:txBody>
          <a:bodyPr>
            <a:normAutofit fontScale="92500"/>
          </a:bodyPr>
          <a:lstStyle/>
          <a:p>
            <a:r>
              <a:rPr lang="en-US" dirty="0"/>
              <a:t>Commonly used for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UPDATE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INSERT</a:t>
            </a:r>
            <a:r>
              <a:rPr lang="en-US" dirty="0"/>
              <a:t>, or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DELETE</a:t>
            </a:r>
            <a:r>
              <a:rPr lang="en-US" dirty="0"/>
              <a:t> statements (None of which return values).</a:t>
            </a:r>
          </a:p>
        </p:txBody>
      </p:sp>
      <p:sp>
        <p:nvSpPr>
          <p:cNvPr id="5" name="Rectangle 4"/>
          <p:cNvSpPr/>
          <p:nvPr/>
        </p:nvSpPr>
        <p:spPr>
          <a:xfrm>
            <a:off x="981306" y="2948063"/>
            <a:ext cx="9935737" cy="3785652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ExecuteNonQuery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select = </a:t>
            </a:r>
            <a:r>
              <a:rPr lang="en-US" sz="20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"UPDATE Customers "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+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    </a:t>
            </a:r>
            <a:r>
              <a:rPr lang="en-US" sz="20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"SET </a:t>
            </a:r>
            <a:r>
              <a:rPr lang="en-US" sz="20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ContactName</a:t>
            </a:r>
            <a:r>
              <a:rPr lang="en-US" sz="20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'Bob' "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+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    </a:t>
            </a:r>
            <a:r>
              <a:rPr lang="en-US" sz="20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"WHERE </a:t>
            </a:r>
            <a:r>
              <a:rPr lang="en-US" sz="20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ContactName</a:t>
            </a:r>
            <a:r>
              <a:rPr lang="en-US" sz="20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'Bill'"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0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SqlConnection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conn =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SqlConnection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GetDatabaseConnection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());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conn.Open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0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SqlCommand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cmd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SqlCommand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(select, conn);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rowsReturned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cmd.ExecuteNonQuery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0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"{0} rows returned."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rowsReturned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conn.Close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152112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ExecuteReader</a:t>
            </a:r>
            <a:r>
              <a:rPr lang="en-US" dirty="0"/>
              <a:t>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8644" y="1600200"/>
            <a:ext cx="10323755" cy="752707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Returns an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ExecuteReader</a:t>
            </a:r>
            <a:r>
              <a:rPr lang="en-US" dirty="0"/>
              <a:t> object that can be used to iterate through the records returned from your query.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2449313"/>
            <a:ext cx="10972799" cy="4093428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ExecuteReader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select = </a:t>
            </a:r>
            <a:r>
              <a:rPr lang="en-US" sz="20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"SELECT </a:t>
            </a:r>
            <a:r>
              <a:rPr lang="en-US" sz="20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ContactName,CompanyName</a:t>
            </a:r>
            <a:r>
              <a:rPr lang="en-US" sz="20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FROM Customers"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0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SqlConnection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conn =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SqlConnection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GetDatabaseConnection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());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conn.Open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0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SqlCommand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cmd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SqlCommand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(select, conn);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0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SqlDataReader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reader =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cmd.ExecuteReader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while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reader.Read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())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20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"Contact: {0,-20} Company: {1}"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            reader[0], reader[1]);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29265318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Ouput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2653" y="1753496"/>
            <a:ext cx="9257417" cy="4689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7638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Reader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how to use a data reader.</a:t>
            </a:r>
          </a:p>
        </p:txBody>
      </p:sp>
    </p:spTree>
    <p:extLst>
      <p:ext uri="{BB962C8B-B14F-4D97-AF65-F5344CB8AC3E}">
        <p14:creationId xmlns:p14="http://schemas.microsoft.com/office/powerpoint/2010/main" val="37359624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Reader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355464" y="1600200"/>
            <a:ext cx="10226936" cy="1496962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Simplest and fastest way to read data.</a:t>
            </a:r>
          </a:p>
          <a:p>
            <a:r>
              <a:rPr lang="en-US" dirty="0"/>
              <a:t>Can not directly instantiate a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DataReader</a:t>
            </a:r>
            <a:r>
              <a:rPr lang="en-US" dirty="0"/>
              <a:t>!</a:t>
            </a:r>
          </a:p>
          <a:p>
            <a:r>
              <a:rPr lang="en-US" dirty="0"/>
              <a:t>A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SqlCommand</a:t>
            </a:r>
            <a:r>
              <a:rPr lang="en-US" dirty="0"/>
              <a:t> object returns a </a:t>
            </a:r>
            <a:r>
              <a:rPr lang="en-US" dirty="0" err="1"/>
              <a:t>DataReader</a:t>
            </a:r>
            <a:r>
              <a:rPr lang="en-US" dirty="0"/>
              <a:t> after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SqlCommand.ExecuteReader</a:t>
            </a:r>
            <a:r>
              <a:rPr lang="en-US" dirty="0"/>
              <a:t>() method is called.</a:t>
            </a:r>
          </a:p>
          <a:p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658762" y="3169769"/>
            <a:ext cx="11257936" cy="2585323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SqlCommand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cmd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SqlCommand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(select, conn);</a:t>
            </a:r>
          </a:p>
          <a:p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SqlDataReader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aReader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cmd.ExecuteReader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())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while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aReader.Read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())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"'{0}' from {1}"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aReader.GetString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(0),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aReader.GetString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(1));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aReader.Close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US" dirty="0"/>
          </a:p>
        </p:txBody>
      </p:sp>
      <p:sp>
        <p:nvSpPr>
          <p:cNvPr id="3" name="Rounded Rectangular Callout 2"/>
          <p:cNvSpPr/>
          <p:nvPr/>
        </p:nvSpPr>
        <p:spPr>
          <a:xfrm>
            <a:off x="7836310" y="3195485"/>
            <a:ext cx="4021394" cy="894735"/>
          </a:xfrm>
          <a:prstGeom prst="wedgeRoundRectCallout">
            <a:avLst>
              <a:gd name="adj1" fmla="val -69733"/>
              <a:gd name="adj2" fmla="val 6456"/>
              <a:gd name="adj3" fmla="val 16667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sz="2800" dirty="0"/>
              <a:t>Returns a </a:t>
            </a:r>
            <a:r>
              <a:rPr lang="en-US" sz="2800" dirty="0" err="1"/>
              <a:t>SqlDataReader</a:t>
            </a:r>
            <a:r>
              <a:rPr lang="en-US" sz="2800" dirty="0"/>
              <a:t> object!</a:t>
            </a:r>
          </a:p>
        </p:txBody>
      </p:sp>
    </p:spTree>
    <p:extLst>
      <p:ext uri="{BB962C8B-B14F-4D97-AF65-F5344CB8AC3E}">
        <p14:creationId xmlns:p14="http://schemas.microsoft.com/office/powerpoint/2010/main" val="2564714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Accessing Data from </a:t>
            </a:r>
            <a:r>
              <a:rPr lang="en-US" dirty="0" err="1"/>
              <a:t>DataReader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use any of these methods: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727813" y="2955382"/>
            <a:ext cx="7643439" cy="3046988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object o = </a:t>
            </a:r>
            <a:r>
              <a:rPr lang="en-US" sz="3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aReader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[0]; </a:t>
            </a:r>
          </a:p>
          <a:p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object o = </a:t>
            </a:r>
            <a:r>
              <a:rPr lang="en-US" sz="3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aReader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["</a:t>
            </a:r>
            <a:r>
              <a:rPr lang="en-US" sz="3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CategoryID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"];</a:t>
            </a:r>
          </a:p>
          <a:p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 s = </a:t>
            </a:r>
            <a:r>
              <a:rPr lang="en-US" sz="3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aReader.GetString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(0);</a:t>
            </a:r>
          </a:p>
          <a:p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 </a:t>
            </a:r>
            <a:r>
              <a:rPr lang="en-US" sz="3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num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3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GetDouble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(0);</a:t>
            </a:r>
          </a:p>
          <a:p>
            <a:r>
              <a:rPr lang="en-US" sz="3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num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GetInt32(0);</a:t>
            </a:r>
          </a:p>
          <a:p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Etc…</a:t>
            </a:r>
          </a:p>
        </p:txBody>
      </p:sp>
    </p:spTree>
    <p:extLst>
      <p:ext uri="{BB962C8B-B14F-4D97-AF65-F5344CB8AC3E}">
        <p14:creationId xmlns:p14="http://schemas.microsoft.com/office/powerpoint/2010/main" val="94415835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Sql</a:t>
            </a:r>
            <a:r>
              <a:rPr lang="en-US" dirty="0"/>
              <a:t> Access Speed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3948" y="1753583"/>
            <a:ext cx="10573282" cy="877530"/>
          </a:xfrm>
        </p:spPr>
        <p:txBody>
          <a:bodyPr/>
          <a:lstStyle/>
          <a:p>
            <a:r>
              <a:rPr lang="en-US" dirty="0"/>
              <a:t>Different access methods have different speeds: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4463509"/>
              </p:ext>
            </p:extLst>
          </p:nvPr>
        </p:nvGraphicFramePr>
        <p:xfrm>
          <a:off x="1827526" y="2877923"/>
          <a:ext cx="9186608" cy="30636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74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2734">
                <a:tc>
                  <a:txBody>
                    <a:bodyPr/>
                    <a:lstStyle/>
                    <a:p>
                      <a:r>
                        <a:rPr lang="en-US" sz="2400" dirty="0"/>
                        <a:t>ACCESS METHOD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TIME FOR 1 MILLION ITERATIONS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910">
                <a:tc>
                  <a:txBody>
                    <a:bodyPr/>
                    <a:lstStyle/>
                    <a:p>
                      <a:r>
                        <a:rPr lang="en-US" sz="2400" dirty="0"/>
                        <a:t>Method call – reader.GetInt32(0)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38 </a:t>
                      </a:r>
                      <a:r>
                        <a:rPr lang="en-US" sz="2400" dirty="0" err="1"/>
                        <a:t>ms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910">
                <a:tc>
                  <a:txBody>
                    <a:bodyPr/>
                    <a:lstStyle/>
                    <a:p>
                      <a:r>
                        <a:rPr lang="en-US" sz="2400" dirty="0"/>
                        <a:t>Numeric indexer – reader[0]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59 </a:t>
                      </a:r>
                      <a:r>
                        <a:rPr lang="en-US" sz="2400" dirty="0" err="1"/>
                        <a:t>ms</a:t>
                      </a:r>
                      <a:r>
                        <a:rPr lang="en-US" sz="2400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6910">
                <a:tc>
                  <a:txBody>
                    <a:bodyPr/>
                    <a:lstStyle/>
                    <a:p>
                      <a:r>
                        <a:rPr lang="en-US" sz="2400" dirty="0"/>
                        <a:t>String indexer – reader["field"]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153 </a:t>
                      </a:r>
                      <a:r>
                        <a:rPr lang="en-US" sz="2400" dirty="0" err="1"/>
                        <a:t>ms</a:t>
                      </a:r>
                      <a:r>
                        <a:rPr lang="en-US" sz="2400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58697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Demonstration/Walkthrough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rmAutofit fontScale="62500" lnSpcReduction="20000"/>
          </a:bodyPr>
          <a:lstStyle/>
          <a:p>
            <a:pPr lvl="0"/>
            <a:r>
              <a:rPr lang="en-US" dirty="0"/>
              <a:t>Demonstrate how to open and use database connections.</a:t>
            </a:r>
          </a:p>
          <a:p>
            <a:pPr lvl="0"/>
            <a:r>
              <a:rPr lang="en-US" dirty="0"/>
              <a:t>Demonstrate how to use database commands.</a:t>
            </a:r>
          </a:p>
          <a:p>
            <a:r>
              <a:rPr lang="en-US" dirty="0"/>
              <a:t>Demonstrate how to use a </a:t>
            </a:r>
            <a:r>
              <a:rPr lang="en-US" dirty="0" err="1"/>
              <a:t>DataReader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858148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29696"/>
            <a:ext cx="10972800" cy="4492487"/>
          </a:xfrm>
        </p:spPr>
        <p:txBody>
          <a:bodyPr numCol="2">
            <a:normAutofit/>
          </a:bodyPr>
          <a:lstStyle/>
          <a:p>
            <a:r>
              <a:rPr lang="en-US" dirty="0"/>
              <a:t>Database Connections</a:t>
            </a:r>
          </a:p>
          <a:p>
            <a:r>
              <a:rPr lang="en-US" dirty="0"/>
              <a:t>Database Commands</a:t>
            </a:r>
          </a:p>
          <a:p>
            <a:r>
              <a:rPr lang="en-US" dirty="0"/>
              <a:t>Data Reader</a:t>
            </a:r>
          </a:p>
        </p:txBody>
      </p:sp>
    </p:spTree>
    <p:extLst>
      <p:ext uri="{BB962C8B-B14F-4D97-AF65-F5344CB8AC3E}">
        <p14:creationId xmlns:p14="http://schemas.microsoft.com/office/powerpoint/2010/main" val="243944342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pzVjXQSP3txl9tStYhIbG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R9RHz8homAIDNvLlc10pT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pzVjXQSP3txl9tStYhIb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R9RHz8homAIDNvLlc10pT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pzVjXQSP3txl9tStYhIb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R9RHz8homAIDNvLlc10pT"/>
</p:tagLst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eg"/></Relationships>
</file>

<file path=ppt/theme/_rels/them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jpeg"/></Relationships>
</file>

<file path=ppt/theme/theme1.xml><?xml version="1.0" encoding="utf-8"?>
<a:theme xmlns:a="http://schemas.openxmlformats.org/drawingml/2006/main" name="STEMulusTheme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 Black"/>
        <a:ea typeface=""/>
        <a:cs typeface=""/>
      </a:majorFont>
      <a:minorFont>
        <a:latin typeface="Arial Unicode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 anchorCtr="1">
        <a:normAutofit fontScale="85000" lnSpcReduction="10000"/>
      </a:bodyPr>
      <a:lstStyle>
        <a:defPPr>
          <a:defRPr sz="6000" dirty="0"/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STEMulusTheme" id="{7D2F087C-814B-478C-8874-D946BB7E8194}" vid="{40A4879B-240E-4393-A31F-DCAD88D9BDF3}"/>
    </a:ext>
  </a:extLst>
</a:theme>
</file>

<file path=ppt/theme/theme2.xml><?xml version="1.0" encoding="utf-8"?>
<a:theme xmlns:a="http://schemas.openxmlformats.org/drawingml/2006/main" name="GenericTheme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 Black"/>
        <a:ea typeface=""/>
        <a:cs typeface=""/>
      </a:majorFont>
      <a:minorFont>
        <a:latin typeface="Arial Unicode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>
        <a:normAutofit fontScale="47500" lnSpcReduction="20000"/>
      </a:bodyPr>
      <a:lstStyle>
        <a:defPPr algn="ctr">
          <a:defRPr sz="2800" dirty="0" smtClean="0"/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GenericTheme" id="{05FD65AE-DB87-4839-B04A-C3F3B9C91C6E}" vid="{73340265-D181-4240-AB7E-F31EC520ECCF}"/>
    </a:ext>
  </a:extLst>
</a:theme>
</file>

<file path=ppt/theme/theme3.xml><?xml version="1.0" encoding="utf-8"?>
<a:theme xmlns:a="http://schemas.openxmlformats.org/drawingml/2006/main" name="FibTheme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 Black"/>
        <a:ea typeface=""/>
        <a:cs typeface=""/>
      </a:majorFont>
      <a:minorFont>
        <a:latin typeface="Arial Unicode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>
        <a:normAutofit fontScale="47500" lnSpcReduction="20000"/>
      </a:bodyPr>
      <a:lstStyle>
        <a:defPPr algn="ctr">
          <a:defRPr sz="2800" dirty="0" smtClean="0"/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FibTheme" id="{42310378-7C67-4D39-BE8C-4B5D7B7C9646}" vid="{D62DC210-79D2-435F-90C7-822FFC9D4BD4}"/>
    </a:ext>
  </a:extLst>
</a:theme>
</file>

<file path=ppt/theme/theme4.xml><?xml version="1.0" encoding="utf-8"?>
<a:theme xmlns:a="http://schemas.openxmlformats.org/drawingml/2006/main" name="1_Fib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2060"/>
      </a:accent1>
      <a:accent2>
        <a:srgbClr val="8496B0"/>
      </a:accent2>
      <a:accent3>
        <a:srgbClr val="8496B0"/>
      </a:accent3>
      <a:accent4>
        <a:srgbClr val="ADB9CA"/>
      </a:accent4>
      <a:accent5>
        <a:srgbClr val="D6DCE4"/>
      </a:accent5>
      <a:accent6>
        <a:srgbClr val="D6DCE4"/>
      </a:accent6>
      <a:hlink>
        <a:srgbClr val="0070C0"/>
      </a:hlink>
      <a:folHlink>
        <a:srgbClr val="7030A0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bTheme" id="{FB228B94-9174-4A84-8B9C-56843C22FF37}" vid="{498E3D67-B2F1-4125-9069-AEB53E6EAC14}"/>
    </a:ext>
  </a:extLst>
</a:theme>
</file>

<file path=ppt/theme/theme5.xml><?xml version="1.0" encoding="utf-8"?>
<a:theme xmlns:a="http://schemas.openxmlformats.org/drawingml/2006/main" name="Celestial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4" id="{BE53C589-A592-4478-913F-3F6771434B4B}" vid="{618F0CBF-9474-4206-AFBB-6DFFF9B6C378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STEMulusTheme</Template>
  <TotalTime>9220</TotalTime>
  <Words>2404</Words>
  <Application>Microsoft Office PowerPoint</Application>
  <PresentationFormat>Widescreen</PresentationFormat>
  <Paragraphs>349</Paragraphs>
  <Slides>39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39</vt:i4>
      </vt:variant>
    </vt:vector>
  </HeadingPairs>
  <TitlesOfParts>
    <vt:vector size="57" baseType="lpstr">
      <vt:lpstr>Arial</vt:lpstr>
      <vt:lpstr>Arial Black</vt:lpstr>
      <vt:lpstr>Arial Narrow</vt:lpstr>
      <vt:lpstr>Arial Unicode MS</vt:lpstr>
      <vt:lpstr>Bauhaus 93</vt:lpstr>
      <vt:lpstr>Calibri</vt:lpstr>
      <vt:lpstr>Cambria</vt:lpstr>
      <vt:lpstr>Consolas</vt:lpstr>
      <vt:lpstr>Courier New</vt:lpstr>
      <vt:lpstr>Edwardian Script ITC</vt:lpstr>
      <vt:lpstr>Segoe UI</vt:lpstr>
      <vt:lpstr>Webdings</vt:lpstr>
      <vt:lpstr>Wingdings</vt:lpstr>
      <vt:lpstr>STEMulusTheme</vt:lpstr>
      <vt:lpstr>GenericTheme</vt:lpstr>
      <vt:lpstr>FibTheme</vt:lpstr>
      <vt:lpstr>1_FibTheme</vt:lpstr>
      <vt:lpstr>Celestial</vt:lpstr>
      <vt:lpstr>ADO.NET</vt:lpstr>
      <vt:lpstr>Overview</vt:lpstr>
      <vt:lpstr>ADO.NET Overview</vt:lpstr>
      <vt:lpstr>ADO.NET Overview</vt:lpstr>
      <vt:lpstr>Supported Database Types</vt:lpstr>
      <vt:lpstr>Namespaces</vt:lpstr>
      <vt:lpstr>Shared Classes</vt:lpstr>
      <vt:lpstr>Database-Specific Classes</vt:lpstr>
      <vt:lpstr>Database connections</vt:lpstr>
      <vt:lpstr>Creating a Database</vt:lpstr>
      <vt:lpstr>Visual Studio provides a database management tool.</vt:lpstr>
      <vt:lpstr>Where is my database?</vt:lpstr>
      <vt:lpstr>Database Connections</vt:lpstr>
      <vt:lpstr>Database Connection Syntax</vt:lpstr>
      <vt:lpstr>Connection String Format</vt:lpstr>
      <vt:lpstr>Connection String Format</vt:lpstr>
      <vt:lpstr>Connection String Format</vt:lpstr>
      <vt:lpstr>Managing Connection Strings</vt:lpstr>
      <vt:lpstr>Configuration Files</vt:lpstr>
      <vt:lpstr>Accessing Configuration File From Code</vt:lpstr>
      <vt:lpstr>Using Connections Efficiently</vt:lpstr>
      <vt:lpstr>try… catch… finally</vt:lpstr>
      <vt:lpstr>Using directive</vt:lpstr>
      <vt:lpstr>Combination</vt:lpstr>
      <vt:lpstr>Database Commands</vt:lpstr>
      <vt:lpstr>Commands</vt:lpstr>
      <vt:lpstr>Command Syntax</vt:lpstr>
      <vt:lpstr>Types of Commands</vt:lpstr>
      <vt:lpstr>Adding Parameters</vt:lpstr>
      <vt:lpstr>Executing Commands</vt:lpstr>
      <vt:lpstr>ExecuteNonQuery()</vt:lpstr>
      <vt:lpstr>ExecuteReader()</vt:lpstr>
      <vt:lpstr>Ouput</vt:lpstr>
      <vt:lpstr>Data Reader</vt:lpstr>
      <vt:lpstr>Data Reader</vt:lpstr>
      <vt:lpstr>Accessing Data from DataReader</vt:lpstr>
      <vt:lpstr>Sql Access Speed</vt:lpstr>
      <vt:lpstr>Demonstration/Walkthrough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Rob Garner</cp:lastModifiedBy>
  <cp:revision>314</cp:revision>
  <dcterms:created xsi:type="dcterms:W3CDTF">2015-05-10T23:35:32Z</dcterms:created>
  <dcterms:modified xsi:type="dcterms:W3CDTF">2024-11-13T01:17:47Z</dcterms:modified>
</cp:coreProperties>
</file>